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50" r:id="rId1"/>
  </p:sldMasterIdLst>
  <p:notesMasterIdLst>
    <p:notesMasterId r:id="rId21"/>
  </p:notesMasterIdLst>
  <p:handoutMasterIdLst>
    <p:handoutMasterId r:id="rId22"/>
  </p:handoutMasterIdLst>
  <p:sldIdLst>
    <p:sldId id="257" r:id="rId2"/>
    <p:sldId id="258" r:id="rId3"/>
    <p:sldId id="259" r:id="rId4"/>
    <p:sldId id="260" r:id="rId5"/>
    <p:sldId id="261" r:id="rId6"/>
    <p:sldId id="272" r:id="rId7"/>
    <p:sldId id="270" r:id="rId8"/>
    <p:sldId id="274" r:id="rId9"/>
    <p:sldId id="273" r:id="rId10"/>
    <p:sldId id="271" r:id="rId11"/>
    <p:sldId id="275" r:id="rId12"/>
    <p:sldId id="262" r:id="rId13"/>
    <p:sldId id="263" r:id="rId14"/>
    <p:sldId id="264" r:id="rId15"/>
    <p:sldId id="265" r:id="rId16"/>
    <p:sldId id="267" r:id="rId17"/>
    <p:sldId id="268" r:id="rId18"/>
    <p:sldId id="269" r:id="rId19"/>
    <p:sldId id="27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005" autoAdjust="0"/>
    <p:restoredTop sz="94660"/>
  </p:normalViewPr>
  <p:slideViewPr>
    <p:cSldViewPr snapToGrid="0">
      <p:cViewPr varScale="1">
        <p:scale>
          <a:sx n="53" d="100"/>
          <a:sy n="53" d="100"/>
        </p:scale>
        <p:origin x="854" y="43"/>
      </p:cViewPr>
      <p:guideLst/>
    </p:cSldViewPr>
  </p:slideViewPr>
  <p:notesTextViewPr>
    <p:cViewPr>
      <p:scale>
        <a:sx n="1" d="1"/>
        <a:sy n="1" d="1"/>
      </p:scale>
      <p:origin x="0" y="0"/>
    </p:cViewPr>
  </p:notesTextViewPr>
  <p:notesViewPr>
    <p:cSldViewPr snapToGrid="0">
      <p:cViewPr varScale="1">
        <p:scale>
          <a:sx n="120" d="100"/>
          <a:sy n="120" d="100"/>
        </p:scale>
        <p:origin x="5040" y="11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flipH="1">
            <a:off x="3886200" y="0"/>
            <a:ext cx="2971800" cy="458788"/>
          </a:xfrm>
          <a:prstGeom prst="rect">
            <a:avLst/>
          </a:prstGeom>
        </p:spPr>
        <p:txBody>
          <a:bodyPr vert="horz" lIns="91440" tIns="45720" rIns="91440" bIns="45720" rtlCol="1"/>
          <a:lstStyle>
            <a:lvl1pPr algn="r" rtl="1">
              <a:defRPr sz="1200"/>
            </a:lvl1pPr>
          </a:lstStyle>
          <a:p>
            <a:pPr algn="r" rtl="1"/>
            <a:endParaRPr lang="en-US"/>
          </a:p>
        </p:txBody>
      </p:sp>
      <p:sp>
        <p:nvSpPr>
          <p:cNvPr id="3" name="מציין מיקום של תאריך 2"/>
          <p:cNvSpPr>
            <a:spLocks noGrp="1"/>
          </p:cNvSpPr>
          <p:nvPr>
            <p:ph type="dt" sz="quarter" idx="1"/>
          </p:nvPr>
        </p:nvSpPr>
        <p:spPr>
          <a:xfrm flipH="1">
            <a:off x="1587" y="0"/>
            <a:ext cx="2971800" cy="458788"/>
          </a:xfrm>
          <a:prstGeom prst="rect">
            <a:avLst/>
          </a:prstGeom>
        </p:spPr>
        <p:txBody>
          <a:bodyPr vert="horz" lIns="91440" tIns="45720" rIns="91440" bIns="45720" rtlCol="1"/>
          <a:lstStyle>
            <a:lvl1pPr algn="r" rtl="1">
              <a:defRPr sz="1200"/>
            </a:lvl1pPr>
          </a:lstStyle>
          <a:p>
            <a:pPr algn="l" rtl="1"/>
            <a:fld id="{6AF7FF25-121C-4B35-9136-601995D9EB78}" type="datetime1">
              <a:rPr lang="he-IL" smtClean="0"/>
              <a:t>כ"ב/טבת/תשפ"ו</a:t>
            </a:fld>
            <a:endParaRPr lang="en-US" dirty="0"/>
          </a:p>
        </p:txBody>
      </p:sp>
      <p:sp>
        <p:nvSpPr>
          <p:cNvPr id="4" name="מציין מיקום של כותרת תחתונה 3"/>
          <p:cNvSpPr>
            <a:spLocks noGrp="1"/>
          </p:cNvSpPr>
          <p:nvPr>
            <p:ph type="ftr" sz="quarter" idx="2"/>
          </p:nvPr>
        </p:nvSpPr>
        <p:spPr>
          <a:xfrm flipH="1">
            <a:off x="3886200" y="8685213"/>
            <a:ext cx="2971800" cy="458787"/>
          </a:xfrm>
          <a:prstGeom prst="rect">
            <a:avLst/>
          </a:prstGeom>
        </p:spPr>
        <p:txBody>
          <a:bodyPr vert="horz" lIns="91440" tIns="45720" rIns="91440" bIns="45720" rtlCol="1" anchor="b"/>
          <a:lstStyle>
            <a:lvl1pPr algn="r" rtl="1">
              <a:defRPr sz="1200"/>
            </a:lvl1pPr>
          </a:lstStyle>
          <a:p>
            <a:pPr algn="r" rtl="1"/>
            <a:endParaRPr lang="en-US"/>
          </a:p>
        </p:txBody>
      </p:sp>
      <p:sp>
        <p:nvSpPr>
          <p:cNvPr id="5" name="מציין מיקום של מספר שקופית 4"/>
          <p:cNvSpPr>
            <a:spLocks noGrp="1"/>
          </p:cNvSpPr>
          <p:nvPr>
            <p:ph type="sldNum" sz="quarter" idx="3"/>
          </p:nvPr>
        </p:nvSpPr>
        <p:spPr>
          <a:xfrm flipH="1">
            <a:off x="1587" y="8685213"/>
            <a:ext cx="2971800" cy="458787"/>
          </a:xfrm>
          <a:prstGeom prst="rect">
            <a:avLst/>
          </a:prstGeom>
        </p:spPr>
        <p:txBody>
          <a:bodyPr vert="horz" lIns="91440" tIns="45720" rIns="91440" bIns="45720" rtlCol="1" anchor="b"/>
          <a:lstStyle>
            <a:lvl1pPr algn="r" rtl="1">
              <a:defRPr sz="1200"/>
            </a:lvl1pPr>
          </a:lstStyle>
          <a:p>
            <a:pPr algn="l" rtl="1"/>
            <a:fld id="{ED92CB86-0DB9-4A70-B1CF-B23508471F6B}" type="slidenum">
              <a:rPr lang="en-US" smtClean="0"/>
              <a:pPr algn="l" rtl="1"/>
              <a:t>‹#›</a:t>
            </a:fld>
            <a:endParaRPr lang="en-US"/>
          </a:p>
        </p:txBody>
      </p:sp>
    </p:spTree>
    <p:extLst>
      <p:ext uri="{BB962C8B-B14F-4D97-AF65-F5344CB8AC3E}">
        <p14:creationId xmlns:p14="http://schemas.microsoft.com/office/powerpoint/2010/main" val="663557642"/>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flipH="1">
            <a:off x="3886200" y="0"/>
            <a:ext cx="2971800" cy="458788"/>
          </a:xfrm>
          <a:prstGeom prst="rect">
            <a:avLst/>
          </a:prstGeom>
        </p:spPr>
        <p:txBody>
          <a:bodyPr vert="horz" lIns="91440" tIns="45720" rIns="91440" bIns="45720" rtlCol="1"/>
          <a:lstStyle>
            <a:lvl1pPr algn="r" rtl="1">
              <a:defRPr sz="1200"/>
            </a:lvl1pPr>
          </a:lstStyle>
          <a:p>
            <a:pPr rtl="1"/>
            <a:endParaRPr lang="en-US"/>
          </a:p>
        </p:txBody>
      </p:sp>
      <p:sp>
        <p:nvSpPr>
          <p:cNvPr id="3" name="מציין מיקום של תאריך 2"/>
          <p:cNvSpPr>
            <a:spLocks noGrp="1"/>
          </p:cNvSpPr>
          <p:nvPr>
            <p:ph type="dt" idx="1"/>
          </p:nvPr>
        </p:nvSpPr>
        <p:spPr>
          <a:xfrm flipH="1">
            <a:off x="1587" y="0"/>
            <a:ext cx="2971800" cy="458788"/>
          </a:xfrm>
          <a:prstGeom prst="rect">
            <a:avLst/>
          </a:prstGeom>
        </p:spPr>
        <p:txBody>
          <a:bodyPr vert="horz" lIns="91440" tIns="45720" rIns="91440" bIns="45720" rtlCol="1"/>
          <a:lstStyle>
            <a:lvl1pPr algn="r" rtl="1">
              <a:defRPr sz="1200"/>
            </a:lvl1pPr>
          </a:lstStyle>
          <a:p>
            <a:pPr rtl="1"/>
            <a:fld id="{A740E3E4-E9D9-49FD-9F18-2E96717D35D6}" type="datetime1">
              <a:rPr lang="he-IL" smtClean="0"/>
              <a:t>כ"ב/טבת/תשפ"ו</a:t>
            </a:fld>
            <a:endParaRPr lang="en-US"/>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pPr rtl="1"/>
            <a:endParaRPr lang="en-US"/>
          </a:p>
        </p:txBody>
      </p:sp>
      <p:sp>
        <p:nvSpPr>
          <p:cNvPr id="5" name="מציין מיקום של הערות 4"/>
          <p:cNvSpPr>
            <a:spLocks noGrp="1"/>
          </p:cNvSpPr>
          <p:nvPr>
            <p:ph type="body" sz="quarter" idx="3"/>
          </p:nvPr>
        </p:nvSpPr>
        <p:spPr>
          <a:xfrm flipH="1">
            <a:off x="685800" y="4400550"/>
            <a:ext cx="5486400" cy="3600450"/>
          </a:xfrm>
          <a:prstGeom prst="rect">
            <a:avLst/>
          </a:prstGeom>
        </p:spPr>
        <p:txBody>
          <a:bodyPr vert="horz" lIns="91440" tIns="45720" rIns="91440" bIns="45720" rtlCol="1"/>
          <a:lstStyle/>
          <a:p>
            <a:pPr lvl="0" rtl="1"/>
            <a:r>
              <a:rPr lang="he"/>
              <a:t>לחץ כדי לערוך סגנונות טקסט של תבנית בסיס</a:t>
            </a:r>
          </a:p>
          <a:p>
            <a:pPr lvl="1" rtl="1"/>
            <a:r>
              <a:rPr lang="he"/>
              <a:t>רמה שניה</a:t>
            </a:r>
          </a:p>
          <a:p>
            <a:pPr lvl="2" rtl="1"/>
            <a:r>
              <a:rPr lang="he"/>
              <a:t>רמה שלישית</a:t>
            </a:r>
          </a:p>
          <a:p>
            <a:pPr lvl="3" rtl="1"/>
            <a:r>
              <a:rPr lang="he"/>
              <a:t>רמה רביעית</a:t>
            </a:r>
          </a:p>
          <a:p>
            <a:pPr lvl="4" rtl="1"/>
            <a:r>
              <a:rPr lang="he"/>
              <a:t>רמה חמישית</a:t>
            </a:r>
          </a:p>
        </p:txBody>
      </p:sp>
      <p:sp>
        <p:nvSpPr>
          <p:cNvPr id="6" name="מציין מיקום של כותרת תחתונה 5"/>
          <p:cNvSpPr>
            <a:spLocks noGrp="1"/>
          </p:cNvSpPr>
          <p:nvPr>
            <p:ph type="ftr" sz="quarter" idx="4"/>
          </p:nvPr>
        </p:nvSpPr>
        <p:spPr>
          <a:xfrm flipH="1">
            <a:off x="3886200" y="8685213"/>
            <a:ext cx="2971800" cy="458787"/>
          </a:xfrm>
          <a:prstGeom prst="rect">
            <a:avLst/>
          </a:prstGeom>
        </p:spPr>
        <p:txBody>
          <a:bodyPr vert="horz" lIns="91440" tIns="45720" rIns="91440" bIns="45720" rtlCol="1" anchor="b"/>
          <a:lstStyle>
            <a:lvl1pPr algn="r" rtl="1">
              <a:defRPr sz="1200"/>
            </a:lvl1pPr>
          </a:lstStyle>
          <a:p>
            <a:pPr rtl="1"/>
            <a:endParaRPr lang="en-US"/>
          </a:p>
        </p:txBody>
      </p:sp>
      <p:sp>
        <p:nvSpPr>
          <p:cNvPr id="7" name="מציין מיקום של מספר שקופית 6"/>
          <p:cNvSpPr>
            <a:spLocks noGrp="1"/>
          </p:cNvSpPr>
          <p:nvPr>
            <p:ph type="sldNum" sz="quarter" idx="5"/>
          </p:nvPr>
        </p:nvSpPr>
        <p:spPr>
          <a:xfrm flipH="1">
            <a:off x="1587" y="8685213"/>
            <a:ext cx="2971800" cy="458787"/>
          </a:xfrm>
          <a:prstGeom prst="rect">
            <a:avLst/>
          </a:prstGeom>
        </p:spPr>
        <p:txBody>
          <a:bodyPr vert="horz" lIns="91440" tIns="45720" rIns="91440" bIns="45720" rtlCol="1" anchor="b"/>
          <a:lstStyle>
            <a:lvl1pPr algn="r" rtl="1">
              <a:defRPr sz="1200"/>
            </a:lvl1pPr>
          </a:lstStyle>
          <a:p>
            <a:pPr rtl="1"/>
            <a:fld id="{9C2B151B-D7D1-48E5-8230-5AADBC794F88}" type="slidenum">
              <a:rPr lang="en-US" smtClean="0"/>
              <a:pPr/>
              <a:t>‹#›</a:t>
            </a:fld>
            <a:endParaRPr lang="en-US"/>
          </a:p>
        </p:txBody>
      </p:sp>
    </p:spTree>
    <p:extLst>
      <p:ext uri="{BB962C8B-B14F-4D97-AF65-F5344CB8AC3E}">
        <p14:creationId xmlns:p14="http://schemas.microsoft.com/office/powerpoint/2010/main" val="313859278"/>
      </p:ext>
    </p:extLst>
  </p:cSld>
  <p:clrMap bg1="lt1" tx1="dk1" bg2="lt2" tx2="dk2" accent1="accent1" accent2="accent2" accent3="accent3" accent4="accent4" accent5="accent5" accent6="accent6" hlink="hlink" folHlink="folHlink"/>
  <p:hf hdr="0" ftr="0"/>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76A16E-93FE-44E3-8B4E-30CF52038E38}" type="datetime1">
              <a:rPr lang="he-IL" smtClean="0"/>
              <a:t>כ"ב/טבת/תשפ"ו</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30308852"/>
      </p:ext>
    </p:extLst>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76A16E-93FE-44E3-8B4E-30CF52038E38}" type="datetime1">
              <a:rPr lang="he-IL" smtClean="0"/>
              <a:t>כ"ב/טבת/תשפ"ו</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166943199"/>
      </p:ext>
    </p:extLst>
  </p:cSld>
  <p:clrMapOvr>
    <a:masterClrMapping/>
  </p:clrMapOvr>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76A16E-93FE-44E3-8B4E-30CF52038E38}" type="datetime1">
              <a:rPr lang="he-IL" smtClean="0"/>
              <a:t>כ"ב/טבת/תשפ"ו</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140175703"/>
      </p:ext>
    </p:extLst>
  </p:cSld>
  <p:clrMapOvr>
    <a:masterClrMapping/>
  </p:clrMapOvr>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76A16E-93FE-44E3-8B4E-30CF52038E38}" type="datetime1">
              <a:rPr lang="he-IL" smtClean="0"/>
              <a:t>כ"ב/טבת/תשפ"ו</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89096233"/>
      </p:ext>
    </p:extLst>
  </p:cSld>
  <p:clrMapOvr>
    <a:masterClrMapping/>
  </p:clrMapOvr>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76A16E-93FE-44E3-8B4E-30CF52038E38}" type="datetime1">
              <a:rPr lang="he-IL" smtClean="0"/>
              <a:t>כ"ב/טבת/תשפ"ו</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51204360"/>
      </p:ext>
    </p:extLst>
  </p:cSld>
  <p:clrMapOvr>
    <a:masterClrMapping/>
  </p:clrMapOvr>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76A16E-93FE-44E3-8B4E-30CF52038E38}" type="datetime1">
              <a:rPr lang="he-IL" smtClean="0"/>
              <a:t>כ"ב/טבת/תשפ"ו</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274406722"/>
      </p:ext>
    </p:extLst>
  </p:cSld>
  <p:clrMapOvr>
    <a:masterClrMapping/>
  </p:clrMapOvr>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6A16E-93FE-44E3-8B4E-30CF52038E38}" type="datetime1">
              <a:rPr lang="he-IL" smtClean="0"/>
              <a:t>כ"ב/טבת/תשפ"ו</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79760608"/>
      </p:ext>
    </p:extLst>
  </p:cSld>
  <p:clrMapOvr>
    <a:masterClrMapping/>
  </p:clrMapOvr>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76A16E-93FE-44E3-8B4E-30CF52038E38}" type="datetime1">
              <a:rPr lang="he-IL" smtClean="0"/>
              <a:t>כ"ב/טבת/תשפ"ו</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29824374"/>
      </p:ext>
    </p:extLst>
  </p:cSld>
  <p:clrMapOvr>
    <a:masterClrMapping/>
  </p:clrMapOvr>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7576A16E-93FE-44E3-8B4E-30CF52038E38}" type="datetime1">
              <a:rPr lang="he-IL" smtClean="0"/>
              <a:t>כ"ב/טבת/תשפ"ו</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127131247"/>
      </p:ext>
    </p:extLst>
  </p:cSld>
  <p:clrMapOvr>
    <a:masterClrMapping/>
  </p:clrMapOvr>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76A16E-93FE-44E3-8B4E-30CF52038E38}" type="datetime1">
              <a:rPr lang="he-IL" smtClean="0"/>
              <a:t>כ"ב/טבת/תשפ"ו</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42251240"/>
      </p:ext>
    </p:extLst>
  </p:cSld>
  <p:clrMapOvr>
    <a:masterClrMapping/>
  </p:clrMapOvr>
  <p:hf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76A16E-93FE-44E3-8B4E-30CF52038E38}" type="datetime1">
              <a:rPr lang="he-IL" smtClean="0"/>
              <a:t>כ"ב/טבת/תשפ"ו</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810952458"/>
      </p:ext>
    </p:extLst>
  </p:cSld>
  <p:clrMapOvr>
    <a:masterClrMapping/>
  </p:clrMapOvr>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7576A16E-93FE-44E3-8B4E-30CF52038E38}" type="datetime1">
              <a:rPr lang="he-IL" smtClean="0"/>
              <a:t>כ"ב/טבת/תשפ"ו</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55377593"/>
      </p:ext>
    </p:extLst>
  </p:cSld>
  <p:clrMapOvr>
    <a:masterClrMapping/>
  </p:clrMapOvr>
  <p:hf sldNum="0"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7576A16E-93FE-44E3-8B4E-30CF52038E38}" type="datetime1">
              <a:rPr lang="he-IL" smtClean="0"/>
              <a:t>כ"ב/טבת/תשפ"ו</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0341032"/>
      </p:ext>
    </p:extLst>
  </p:cSld>
  <p:clrMapOvr>
    <a:masterClrMapping/>
  </p:clrMapOvr>
  <p:hf sldNum="0"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76A16E-93FE-44E3-8B4E-30CF52038E38}" type="datetime1">
              <a:rPr lang="he-IL" smtClean="0"/>
              <a:t>כ"ב/טבת/תשפ"ו</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7139186"/>
      </p:ext>
    </p:extLst>
  </p:cSld>
  <p:clrMapOvr>
    <a:masterClrMapping/>
  </p:clrMapOvr>
  <p:hf sldNum="0"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76A16E-93FE-44E3-8B4E-30CF52038E38}" type="datetime1">
              <a:rPr lang="he-IL" smtClean="0"/>
              <a:t>כ"ב/טבת/תשפ"ו</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04083195"/>
      </p:ext>
    </p:extLst>
  </p:cSld>
  <p:clrMapOvr>
    <a:masterClrMapping/>
  </p:clrMapOvr>
  <p:hf sldNum="0"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76A16E-93FE-44E3-8B4E-30CF52038E38}" type="datetime1">
              <a:rPr lang="he-IL" smtClean="0"/>
              <a:t>כ"ב/טבת/תשפ"ו</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80462335"/>
      </p:ext>
    </p:extLst>
  </p:cSld>
  <p:clrMapOvr>
    <a:masterClrMapping/>
  </p:clrMapOvr>
  <p:hf sldNum="0"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76A16E-93FE-44E3-8B4E-30CF52038E38}" type="datetime1">
              <a:rPr lang="he-IL" smtClean="0"/>
              <a:t>כ"ב/טבת/תשפ"ו</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87354258"/>
      </p:ext>
    </p:extLst>
  </p:cSld>
  <p:clrMapOvr>
    <a:masterClrMapping/>
  </p:clrMapOvr>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7576A16E-93FE-44E3-8B4E-30CF52038E38}" type="datetime1">
              <a:rPr lang="he-IL" smtClean="0"/>
              <a:t>כ"ב/טבת/תשפ"ו</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1240900"/>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hf sldNum="0" hdr="0" ftr="0"/>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hyperlink" Target="https://images.nvidia.com/aem-dam/en-zz/Solutions/data-center/nvidia-ampere-architecture-whitepaper.pdf"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8FD68DA-43BA-4508-8DE2-BA9BB7B2FA5B}"/>
              </a:ext>
            </a:extLst>
          </p:cNvPr>
          <p:cNvSpPr>
            <a:spLocks noGrp="1"/>
          </p:cNvSpPr>
          <p:nvPr>
            <p:ph type="ctrTitle"/>
          </p:nvPr>
        </p:nvSpPr>
        <p:spPr>
          <a:xfrm flipH="1">
            <a:off x="651684" y="2071396"/>
            <a:ext cx="6253317" cy="1609904"/>
          </a:xfrm>
        </p:spPr>
        <p:txBody>
          <a:bodyPr rtlCol="1">
            <a:noAutofit/>
          </a:bodyPr>
          <a:lstStyle/>
          <a:p>
            <a:pPr algn="ctr"/>
            <a:r>
              <a:rPr lang="en-US" sz="5400" dirty="0"/>
              <a:t>Fine-Tuning LLAMA3 Language Model</a:t>
            </a:r>
            <a:endParaRPr lang="he" sz="5400" dirty="0">
              <a:latin typeface="Tahoma" panose="020B0604030504040204" pitchFamily="34" charset="0"/>
              <a:ea typeface="Tahoma" panose="020B0604030504040204" pitchFamily="34" charset="0"/>
              <a:cs typeface="Tahoma" panose="020B0604030504040204" pitchFamily="34" charset="0"/>
            </a:endParaRPr>
          </a:p>
        </p:txBody>
      </p:sp>
      <p:sp>
        <p:nvSpPr>
          <p:cNvPr id="3" name="כותרת משנה 2">
            <a:extLst>
              <a:ext uri="{FF2B5EF4-FFF2-40B4-BE49-F238E27FC236}">
                <a16:creationId xmlns:a16="http://schemas.microsoft.com/office/drawing/2014/main" id="{A8E9CFF2-3777-4FF4-A759-8491175B0B7C}"/>
              </a:ext>
            </a:extLst>
          </p:cNvPr>
          <p:cNvSpPr>
            <a:spLocks noGrp="1"/>
          </p:cNvSpPr>
          <p:nvPr>
            <p:ph type="subTitle" idx="1"/>
          </p:nvPr>
        </p:nvSpPr>
        <p:spPr>
          <a:xfrm flipH="1">
            <a:off x="632899" y="4672739"/>
            <a:ext cx="6269347" cy="440437"/>
          </a:xfrm>
        </p:spPr>
        <p:txBody>
          <a:bodyPr rtlCol="1">
            <a:normAutofit lnSpcReduction="10000"/>
          </a:bodyPr>
          <a:lstStyle/>
          <a:p>
            <a:pPr algn="ctr" rtl="1"/>
            <a:r>
              <a:rPr lang="en-US" sz="2400"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Ali </a:t>
            </a:r>
            <a:r>
              <a:rPr lang="en-US" sz="240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BeSHER</a:t>
            </a:r>
            <a:endParaRPr lang="he" sz="2400"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5" name="תמונה 4" descr="תמונה המכילה בניין, ישיבה, מושב, צד&#10;&#10;תיאור נוצר באופן אוטומטי">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flipH="1">
            <a:off x="7556686" y="1"/>
            <a:ext cx="4635315" cy="6857999"/>
          </a:xfrm>
          <a:prstGeom prst="rect">
            <a:avLst/>
          </a:prstGeom>
        </p:spPr>
      </p:pic>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AB2EA78-AEB3-469B-9025-3B17201A457B}"/>
              </a:ext>
            </a:extLst>
          </p:cNvPr>
          <p:cNvSpPr>
            <a:spLocks noGrp="1"/>
          </p:cNvSpPr>
          <p:nvPr>
            <p:ph type="ctrTitle"/>
          </p:nvPr>
        </p:nvSpPr>
        <p:spPr>
          <a:xfrm flipH="1">
            <a:off x="1065293" y="303244"/>
            <a:ext cx="10058400" cy="4231433"/>
          </a:xfrm>
        </p:spPr>
        <p:txBody>
          <a:bodyPr rtlCol="1" anchor="ctr">
            <a:normAutofit/>
          </a:bodyPr>
          <a:lstStyle/>
          <a:p>
            <a:pPr algn="l" rtl="0"/>
            <a:r>
              <a:rPr lang="en-US" sz="2400" dirty="0"/>
              <a:t>This project provides practical hands-on experience in fine-tuning Meta's LLAMA3 large language model on local and cloud-based environments. The objective is to equip students with skills in NLP, deep learning, model customization, and deployment for real-world tasks, with a special focus on healthcare applications.</a:t>
            </a:r>
            <a:br>
              <a:rPr lang="en-US" sz="2400" dirty="0"/>
            </a:br>
            <a:endParaRPr lang="he" sz="2400" dirty="0">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sp>
        <p:nvSpPr>
          <p:cNvPr id="3" name="כותרת משנה 2">
            <a:extLst>
              <a:ext uri="{FF2B5EF4-FFF2-40B4-BE49-F238E27FC236}">
                <a16:creationId xmlns:a16="http://schemas.microsoft.com/office/drawing/2014/main" id="{255E1F2F-E259-4EA8-9FFD-3A10AF541859}"/>
              </a:ext>
            </a:extLst>
          </p:cNvPr>
          <p:cNvSpPr>
            <a:spLocks noGrp="1"/>
          </p:cNvSpPr>
          <p:nvPr>
            <p:ph type="subTitle" idx="1"/>
          </p:nvPr>
        </p:nvSpPr>
        <p:spPr>
          <a:xfrm flipH="1">
            <a:off x="1033549" y="5225240"/>
            <a:ext cx="10058400" cy="1143000"/>
          </a:xfrm>
        </p:spPr>
        <p:txBody>
          <a:bodyPr rtlCol="1">
            <a:normAutofit/>
          </a:bodyPr>
          <a:lstStyle/>
          <a:p>
            <a:pPr algn="l" rtl="0"/>
            <a:r>
              <a:rPr lang="en-US" dirty="0">
                <a:solidFill>
                  <a:schemeClr val="bg1"/>
                </a:solidFill>
              </a:rPr>
              <a:t>Executive Summary</a:t>
            </a:r>
            <a:endParaRPr lang="he"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AC5FF8-DB3B-8DD1-25C1-4644FE1796B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BA796503-9515-3631-9E75-13409761D59B}"/>
              </a:ext>
            </a:extLst>
          </p:cNvPr>
          <p:cNvSpPr>
            <a:spLocks noGrp="1"/>
          </p:cNvSpPr>
          <p:nvPr>
            <p:ph type="ctrTitle"/>
          </p:nvPr>
        </p:nvSpPr>
        <p:spPr>
          <a:xfrm flipH="1">
            <a:off x="1065293" y="303244"/>
            <a:ext cx="10058400" cy="4231433"/>
          </a:xfrm>
        </p:spPr>
        <p:txBody>
          <a:bodyPr rtlCol="1" anchor="ctr">
            <a:normAutofit/>
          </a:bodyPr>
          <a:lstStyle/>
          <a:p>
            <a:pPr algn="l" rtl="0"/>
            <a:r>
              <a:rPr lang="en-US" sz="2400" dirty="0"/>
              <a:t>With the growing significance of LLMs in areas such as chat applications and medical diagnostics, this project introduces students to:</a:t>
            </a:r>
            <a:br>
              <a:rPr lang="en-US" sz="2400" dirty="0"/>
            </a:br>
            <a:r>
              <a:rPr lang="en-US" sz="2400" dirty="0"/>
              <a:t>Customizing LLMs for domain-specific use-cases</a:t>
            </a:r>
            <a:br>
              <a:rPr lang="en-US" sz="2400" dirty="0"/>
            </a:br>
            <a:r>
              <a:rPr lang="en-US" sz="2400" dirty="0"/>
              <a:t>Evaluating model performance effectively</a:t>
            </a:r>
            <a:br>
              <a:rPr lang="en-US" sz="2400" dirty="0"/>
            </a:br>
            <a:r>
              <a:rPr lang="en-US" sz="2400" dirty="0"/>
              <a:t>Using state-of-the-art tools for local and cloud-based deployment</a:t>
            </a:r>
          </a:p>
        </p:txBody>
      </p:sp>
      <p:sp>
        <p:nvSpPr>
          <p:cNvPr id="3" name="כותרת משנה 2">
            <a:extLst>
              <a:ext uri="{FF2B5EF4-FFF2-40B4-BE49-F238E27FC236}">
                <a16:creationId xmlns:a16="http://schemas.microsoft.com/office/drawing/2014/main" id="{8044387E-71A4-9CD5-576B-E3D75A3F3DA0}"/>
              </a:ext>
            </a:extLst>
          </p:cNvPr>
          <p:cNvSpPr>
            <a:spLocks noGrp="1"/>
          </p:cNvSpPr>
          <p:nvPr>
            <p:ph type="subTitle" idx="1"/>
          </p:nvPr>
        </p:nvSpPr>
        <p:spPr>
          <a:xfrm flipH="1">
            <a:off x="1033549" y="5225240"/>
            <a:ext cx="10058400" cy="1143000"/>
          </a:xfrm>
        </p:spPr>
        <p:txBody>
          <a:bodyPr rtlCol="1">
            <a:normAutofit/>
          </a:bodyPr>
          <a:lstStyle/>
          <a:p>
            <a:pPr algn="l" rtl="0"/>
            <a:r>
              <a:rPr lang="en-US" dirty="0">
                <a:solidFill>
                  <a:schemeClr val="bg1"/>
                </a:solidFill>
              </a:rPr>
              <a:t>Motivation</a:t>
            </a:r>
            <a:endParaRPr lang="he"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077761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C8CA8C-04F9-9780-4CE6-DBF747FFB01A}"/>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5FF991FB-FE66-11C3-D7E1-6B0E3F5975B4}"/>
              </a:ext>
            </a:extLst>
          </p:cNvPr>
          <p:cNvSpPr>
            <a:spLocks noGrp="1" noChangeArrowheads="1"/>
          </p:cNvSpPr>
          <p:nvPr>
            <p:ph type="ctrTitle"/>
          </p:nvPr>
        </p:nvSpPr>
        <p:spPr bwMode="auto">
          <a:xfrm>
            <a:off x="419878" y="371842"/>
            <a:ext cx="9869335"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rtl="0" eaLnBrk="0" fontAlgn="base" hangingPunct="0">
              <a:lnSpc>
                <a:spcPct val="100000"/>
              </a:lnSpc>
              <a:spcAft>
                <a:spcPct val="0"/>
              </a:spcAft>
            </a:pPr>
            <a:r>
              <a:rPr kumimoji="0" lang="en-US" altLang="he-IL" sz="2000" b="0" i="0" u="none" strike="noStrike" cap="none" normalizeH="0" baseline="0" dirty="0">
                <a:ln>
                  <a:noFill/>
                </a:ln>
                <a:solidFill>
                  <a:schemeClr val="tx1"/>
                </a:solidFill>
                <a:effectLst/>
                <a:latin typeface="Arial" panose="020B0604020202020204" pitchFamily="34" charset="0"/>
              </a:rPr>
              <a:t>I</a:t>
            </a:r>
            <a:r>
              <a:rPr lang="en-US" sz="2000" dirty="0"/>
              <a:t>n our project, we are not starting from scratch to build a language model. Instead, we begin with one of today’s best open-source LLMs. After much thought, we choose: </a:t>
            </a:r>
            <a:r>
              <a:rPr lang="en-US" sz="2000" b="1" dirty="0"/>
              <a:t>Llama 3-8B-Instruct-bnb-4bit</a:t>
            </a:r>
            <a:r>
              <a:rPr lang="en-US" sz="2000" dirty="0"/>
              <a:t>. A large AI model contains millions of digital “strings”. However, it needs careful tuning and customization to achieve its best performance for a specific task. This is where fine-tuning comes in: It’s like retuning a wonderful instrument. The base model has huge potential, but unless its abilities are directed and finely adjusted for your domain or data, its performance will remain general and suboptimal. With fine-tuning, we “turn the knobs” of the model and refine its inner details until we reach the high-quality performance for the type of dialogue or field we’re targeting. That’s why we didn’t choose a giant model that would exhaust our resources, nor a tiny model that lacks creativity. Instead, we found the smart balance in </a:t>
            </a:r>
            <a:r>
              <a:rPr lang="en-US" sz="2000" b="1" dirty="0"/>
              <a:t>Llama-3-8B (bnb-4bit)</a:t>
            </a:r>
            <a:r>
              <a:rPr lang="en-US" sz="2000" dirty="0"/>
              <a:t>, leveraging the best fast and efficient training techniques (</a:t>
            </a:r>
            <a:r>
              <a:rPr lang="en-US" sz="2000" dirty="0" err="1"/>
              <a:t>LoRA</a:t>
            </a:r>
            <a:r>
              <a:rPr lang="en-US" sz="2000" dirty="0"/>
              <a:t> and </a:t>
            </a:r>
            <a:r>
              <a:rPr lang="en-US" sz="2000" dirty="0" err="1"/>
              <a:t>Unsloth</a:t>
            </a:r>
            <a:r>
              <a:rPr lang="en-US" sz="2000" dirty="0"/>
              <a:t>), to get the best mix for limited time and compute.</a:t>
            </a:r>
            <a:endParaRPr kumimoji="0" lang="he-IL" altLang="he-IL" sz="2000" b="0" i="0" u="none" strike="noStrike" cap="none" normalizeH="0" baseline="0" dirty="0">
              <a:ln>
                <a:noFill/>
              </a:ln>
              <a:solidFill>
                <a:schemeClr val="tx1"/>
              </a:solidFill>
              <a:effectLst/>
              <a:latin typeface="Arial" panose="020B0604020202020204" pitchFamily="34" charset="0"/>
            </a:endParaRPr>
          </a:p>
        </p:txBody>
      </p:sp>
      <p:sp>
        <p:nvSpPr>
          <p:cNvPr id="3" name="כותרת משנה 2">
            <a:extLst>
              <a:ext uri="{FF2B5EF4-FFF2-40B4-BE49-F238E27FC236}">
                <a16:creationId xmlns:a16="http://schemas.microsoft.com/office/drawing/2014/main" id="{6EE15848-07AF-29B1-F887-6589A1FC670E}"/>
              </a:ext>
            </a:extLst>
          </p:cNvPr>
          <p:cNvSpPr>
            <a:spLocks noGrp="1"/>
          </p:cNvSpPr>
          <p:nvPr>
            <p:ph type="subTitle" idx="1"/>
          </p:nvPr>
        </p:nvSpPr>
        <p:spPr>
          <a:xfrm flipH="1">
            <a:off x="1033549" y="5225240"/>
            <a:ext cx="10058400" cy="1143000"/>
          </a:xfrm>
        </p:spPr>
        <p:txBody>
          <a:bodyPr rtlCol="1">
            <a:normAutofit/>
          </a:bodyPr>
          <a:lstStyle/>
          <a:p>
            <a:pPr algn="l" rtl="0"/>
            <a:r>
              <a:rPr lang="he-IL" altLang="he-IL" b="1" cap="none" dirty="0" err="1">
                <a:solidFill>
                  <a:schemeClr val="bg1"/>
                </a:solidFill>
                <a:latin typeface="Arial" panose="020B0604020202020204" pitchFamily="34" charset="0"/>
              </a:rPr>
              <a:t>Fine-Tuning</a:t>
            </a:r>
            <a:endParaRPr lang="he"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419738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20C9CC-8052-D25C-08B3-28D691FBD48E}"/>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011898D8-CFAF-9AAC-BEA3-8DD9F93AA681}"/>
              </a:ext>
            </a:extLst>
          </p:cNvPr>
          <p:cNvSpPr>
            <a:spLocks noGrp="1" noChangeArrowheads="1"/>
          </p:cNvSpPr>
          <p:nvPr>
            <p:ph type="ctrTitle"/>
          </p:nvPr>
        </p:nvSpPr>
        <p:spPr bwMode="auto">
          <a:xfrm>
            <a:off x="419878" y="217953"/>
            <a:ext cx="986933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rtl="0" eaLnBrk="0" fontAlgn="base" hangingPunct="0">
              <a:lnSpc>
                <a:spcPct val="100000"/>
              </a:lnSpc>
              <a:spcAft>
                <a:spcPct val="0"/>
              </a:spcAft>
            </a:pPr>
            <a:r>
              <a:rPr lang="en-US" altLang="he-IL" sz="2000" dirty="0">
                <a:solidFill>
                  <a:schemeClr val="tx1"/>
                </a:solidFill>
                <a:latin typeface="Arial" panose="020B0604020202020204" pitchFamily="34" charset="0"/>
              </a:rPr>
              <a:t>We were faced with an infinite amount of data. But after filtering and focusing on quality, we decided the best option was to use </a:t>
            </a:r>
            <a:r>
              <a:rPr lang="en-US" altLang="he-IL" sz="2000" b="1" dirty="0">
                <a:solidFill>
                  <a:schemeClr val="tx1"/>
                </a:solidFill>
                <a:latin typeface="Arial" panose="020B0604020202020204" pitchFamily="34" charset="0"/>
              </a:rPr>
              <a:t>FineTome-100k</a:t>
            </a:r>
            <a:r>
              <a:rPr lang="en-US" altLang="he-IL" sz="2000" dirty="0">
                <a:solidFill>
                  <a:schemeClr val="tx1"/>
                </a:solidFill>
                <a:latin typeface="Arial" panose="020B0604020202020204" pitchFamily="34" charset="0"/>
              </a:rPr>
              <a:t>. Still, we had two choices: either use the full 100,000-sample dataset, or just a subset. At first, using all the data, the more data, the more chances for the model to learn. But in reality, running on Google </a:t>
            </a:r>
            <a:r>
              <a:rPr lang="en-US" altLang="he-IL" sz="2000" dirty="0" err="1">
                <a:solidFill>
                  <a:schemeClr val="tx1"/>
                </a:solidFill>
                <a:latin typeface="Arial" panose="020B0604020202020204" pitchFamily="34" charset="0"/>
              </a:rPr>
              <a:t>Colab</a:t>
            </a:r>
            <a:r>
              <a:rPr lang="en-US" altLang="he-IL" sz="2000" dirty="0">
                <a:solidFill>
                  <a:schemeClr val="tx1"/>
                </a:solidFill>
                <a:latin typeface="Arial" panose="020B0604020202020204" pitchFamily="34" charset="0"/>
              </a:rPr>
              <a:t> (even with an A100 GPU), loading all the data at once made training noticeably slower, and could even destabilize the session. We tried reducing the size to 20,000 examples; training was much faster and results were fairly satisfying (we reached a 0.79 training loss and 0.84 validation loss). Still, we noticed a tendency toward overfitting. So, after several trials, we found that selecting 50,000 well-chosen samples (specifically, after filtering out very short dialogues) gave the best balance between data diversity, training speed, and not exceeding </a:t>
            </a:r>
            <a:r>
              <a:rPr lang="en-US" altLang="he-IL" sz="2000" dirty="0" err="1">
                <a:solidFill>
                  <a:schemeClr val="tx1"/>
                </a:solidFill>
                <a:latin typeface="Arial" panose="020B0604020202020204" pitchFamily="34" charset="0"/>
              </a:rPr>
              <a:t>Colab’s</a:t>
            </a:r>
            <a:r>
              <a:rPr lang="en-US" altLang="he-IL" sz="2000" dirty="0">
                <a:solidFill>
                  <a:schemeClr val="tx1"/>
                </a:solidFill>
                <a:latin typeface="Arial" panose="020B0604020202020204" pitchFamily="34" charset="0"/>
              </a:rPr>
              <a:t> memory limits. Filtering out dialogues shorter than 100 tokens wasn’t random — it was based on observation and research into expert advice online. Longer dialogues generally provide deeper context for the model and reduce the risk of “rote memorization” or learning from shallow examples.</a:t>
            </a:r>
            <a:endParaRPr kumimoji="0" lang="he-IL" altLang="he-IL" sz="2000" i="0" u="none" strike="noStrike" cap="none" normalizeH="0" baseline="0" dirty="0">
              <a:ln>
                <a:noFill/>
              </a:ln>
              <a:solidFill>
                <a:schemeClr val="tx1"/>
              </a:solidFill>
              <a:effectLst/>
              <a:latin typeface="Arial" panose="020B0604020202020204" pitchFamily="34" charset="0"/>
            </a:endParaRPr>
          </a:p>
        </p:txBody>
      </p:sp>
      <p:sp>
        <p:nvSpPr>
          <p:cNvPr id="3" name="כותרת משנה 2">
            <a:extLst>
              <a:ext uri="{FF2B5EF4-FFF2-40B4-BE49-F238E27FC236}">
                <a16:creationId xmlns:a16="http://schemas.microsoft.com/office/drawing/2014/main" id="{3A29984F-8A60-9450-1FC4-AE388106B279}"/>
              </a:ext>
            </a:extLst>
          </p:cNvPr>
          <p:cNvSpPr>
            <a:spLocks noGrp="1"/>
          </p:cNvSpPr>
          <p:nvPr>
            <p:ph type="subTitle" idx="1"/>
          </p:nvPr>
        </p:nvSpPr>
        <p:spPr>
          <a:xfrm flipH="1">
            <a:off x="1033549" y="5225240"/>
            <a:ext cx="10058400" cy="1143000"/>
          </a:xfrm>
        </p:spPr>
        <p:txBody>
          <a:bodyPr rtlCol="1">
            <a:normAutofit/>
          </a:bodyPr>
          <a:lstStyle/>
          <a:p>
            <a:pPr algn="l" rtl="0"/>
            <a:r>
              <a:rPr lang="en-US" dirty="0">
                <a:solidFill>
                  <a:schemeClr val="bg1"/>
                </a:solidFill>
              </a:rPr>
              <a:t>Data Selection &amp; Filtering: Quality over Quantity</a:t>
            </a:r>
            <a:endParaRPr lang="he"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11076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45F35F-A612-4F8A-7AC8-6272332D3CDD}"/>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033060DA-27C2-C81E-F8A3-3F3BA393630F}"/>
              </a:ext>
            </a:extLst>
          </p:cNvPr>
          <p:cNvSpPr>
            <a:spLocks noGrp="1" noChangeArrowheads="1"/>
          </p:cNvSpPr>
          <p:nvPr>
            <p:ph type="ctrTitle"/>
          </p:nvPr>
        </p:nvSpPr>
        <p:spPr bwMode="auto">
          <a:xfrm>
            <a:off x="1394691" y="1879600"/>
            <a:ext cx="937490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rtl="0" eaLnBrk="0" fontAlgn="base" hangingPunct="0">
              <a:lnSpc>
                <a:spcPct val="100000"/>
              </a:lnSpc>
              <a:spcAft>
                <a:spcPct val="0"/>
              </a:spcAft>
            </a:pPr>
            <a:r>
              <a:rPr lang="en-US" sz="4000" b="1" dirty="0"/>
              <a:t>Results and Graphs of the Preliminary Model</a:t>
            </a:r>
            <a:br>
              <a:rPr lang="en-US" sz="4000" dirty="0"/>
            </a:br>
            <a:endParaRPr kumimoji="0" lang="he-IL" altLang="he-IL" sz="4000" i="0" u="none" strike="noStrike" cap="none" normalizeH="0" baseline="0" dirty="0">
              <a:ln>
                <a:noFill/>
              </a:ln>
              <a:solidFill>
                <a:schemeClr val="tx1"/>
              </a:solidFill>
              <a:effectLst/>
              <a:latin typeface="Arial" panose="020B0604020202020204" pitchFamily="34" charset="0"/>
            </a:endParaRPr>
          </a:p>
        </p:txBody>
      </p:sp>
      <p:sp>
        <p:nvSpPr>
          <p:cNvPr id="3" name="כותרת משנה 2">
            <a:extLst>
              <a:ext uri="{FF2B5EF4-FFF2-40B4-BE49-F238E27FC236}">
                <a16:creationId xmlns:a16="http://schemas.microsoft.com/office/drawing/2014/main" id="{12E3E5CB-6887-F82E-7191-8C86B846D197}"/>
              </a:ext>
            </a:extLst>
          </p:cNvPr>
          <p:cNvSpPr>
            <a:spLocks noGrp="1"/>
          </p:cNvSpPr>
          <p:nvPr>
            <p:ph type="subTitle" idx="1"/>
          </p:nvPr>
        </p:nvSpPr>
        <p:spPr>
          <a:xfrm flipH="1">
            <a:off x="1033549" y="5225240"/>
            <a:ext cx="10058400" cy="1143000"/>
          </a:xfrm>
        </p:spPr>
        <p:txBody>
          <a:bodyPr rtlCol="1">
            <a:normAutofit/>
          </a:bodyPr>
          <a:lstStyle/>
          <a:p>
            <a:pPr algn="l" rtl="0"/>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RSULTS &amp; GRAP</a:t>
            </a:r>
            <a:r>
              <a:rPr lang="en-US" dirty="0">
                <a:solidFill>
                  <a:schemeClr val="bg1"/>
                </a:solidFill>
                <a:latin typeface="Tahoma" panose="020B0604030504040204" pitchFamily="34" charset="0"/>
              </a:rPr>
              <a:t>HS </a:t>
            </a:r>
            <a:endParaRPr lang="he"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67362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927A9C-AF43-5A6B-9EB5-D36D31BB6B5E}"/>
              </a:ext>
            </a:extLst>
          </p:cNvPr>
          <p:cNvSpPr>
            <a:spLocks noGrp="1"/>
          </p:cNvSpPr>
          <p:nvPr>
            <p:ph type="dt" sz="half" idx="10"/>
          </p:nvPr>
        </p:nvSpPr>
        <p:spPr/>
        <p:txBody>
          <a:bodyPr/>
          <a:lstStyle/>
          <a:p>
            <a:pPr rtl="1"/>
            <a:fld id="{75FA6EE9-C983-4E79-A3A9-F3233CDF6463}" type="datetime1">
              <a:rPr lang="he-IL" smtClean="0"/>
              <a:t>כ"ב/טבת/תשפ"ו</a:t>
            </a:fld>
            <a:endParaRPr lang="en-US" dirty="0"/>
          </a:p>
        </p:txBody>
      </p:sp>
      <p:pic>
        <p:nvPicPr>
          <p:cNvPr id="4" name="Picture 3" descr="A graph showing the growth of a number of people&#10;&#10;AI-generated content may be incorrect.">
            <a:extLst>
              <a:ext uri="{FF2B5EF4-FFF2-40B4-BE49-F238E27FC236}">
                <a16:creationId xmlns:a16="http://schemas.microsoft.com/office/drawing/2014/main" id="{3E4F1500-71C8-EF42-9C7B-80ED51A53B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2341" y="0"/>
            <a:ext cx="6809659" cy="6858000"/>
          </a:xfrm>
          <a:prstGeom prst="rect">
            <a:avLst/>
          </a:prstGeom>
        </p:spPr>
      </p:pic>
      <p:pic>
        <p:nvPicPr>
          <p:cNvPr id="5" name="Content Placeholder 4" descr="A screenshot of a graph&#10;&#10;AI-generated content may be incorrect.">
            <a:extLst>
              <a:ext uri="{FF2B5EF4-FFF2-40B4-BE49-F238E27FC236}">
                <a16:creationId xmlns:a16="http://schemas.microsoft.com/office/drawing/2014/main" id="{55135E7C-32F5-DD46-C6C4-07F124699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037"/>
            <a:ext cx="5528378" cy="6811963"/>
          </a:xfrm>
          <a:prstGeom prst="rect">
            <a:avLst/>
          </a:prstGeom>
        </p:spPr>
      </p:pic>
    </p:spTree>
    <p:extLst>
      <p:ext uri="{BB962C8B-B14F-4D97-AF65-F5344CB8AC3E}">
        <p14:creationId xmlns:p14="http://schemas.microsoft.com/office/powerpoint/2010/main" val="3900435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B0B095-C701-30A8-38E6-62AD88215965}"/>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577F1E41-CDC0-8B7B-DD83-40132561B55D}"/>
              </a:ext>
            </a:extLst>
          </p:cNvPr>
          <p:cNvSpPr>
            <a:spLocks noGrp="1" noChangeArrowheads="1"/>
          </p:cNvSpPr>
          <p:nvPr>
            <p:ph type="ctrTitle"/>
          </p:nvPr>
        </p:nvSpPr>
        <p:spPr bwMode="auto">
          <a:xfrm>
            <a:off x="1033549" y="1150137"/>
            <a:ext cx="9374909" cy="319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rtl="0"/>
            <a:r>
              <a:rPr lang="en-US" sz="2800" dirty="0"/>
              <a:t>- Small dataset size → Limited </a:t>
            </a:r>
            <a:r>
              <a:rPr lang="en-US" sz="2800" dirty="0" err="1"/>
              <a:t>generalizat</a:t>
            </a:r>
            <a:br>
              <a:rPr lang="en-US" sz="2800" dirty="0"/>
            </a:br>
            <a:br>
              <a:rPr lang="en-US" sz="2800" dirty="0"/>
            </a:br>
            <a:r>
              <a:rPr lang="en-US" sz="2800" dirty="0"/>
              <a:t>- Short sentences may not capture  complexity.</a:t>
            </a:r>
            <a:br>
              <a:rPr lang="en-US" sz="2800" dirty="0"/>
            </a:br>
            <a:br>
              <a:rPr lang="en-US" sz="2800" dirty="0"/>
            </a:br>
            <a:r>
              <a:rPr lang="en-US" sz="2800" dirty="0"/>
              <a:t>- Lower step count may limit learning.</a:t>
            </a:r>
            <a:br>
              <a:rPr lang="en-US" sz="2800" dirty="0"/>
            </a:br>
            <a:br>
              <a:rPr lang="en-US" sz="2800" dirty="0"/>
            </a:br>
            <a:r>
              <a:rPr lang="en-US" sz="2800" dirty="0"/>
              <a:t>- Fluctuations in loss.</a:t>
            </a:r>
            <a:br>
              <a:rPr lang="en-US" sz="2800" dirty="0"/>
            </a:br>
            <a:r>
              <a:rPr lang="en-US" sz="2800" dirty="0"/>
              <a:t>	</a:t>
            </a:r>
          </a:p>
        </p:txBody>
      </p:sp>
      <p:sp>
        <p:nvSpPr>
          <p:cNvPr id="3" name="כותרת משנה 2">
            <a:extLst>
              <a:ext uri="{FF2B5EF4-FFF2-40B4-BE49-F238E27FC236}">
                <a16:creationId xmlns:a16="http://schemas.microsoft.com/office/drawing/2014/main" id="{A35D3D54-EDC9-5609-6B56-F82A832D332D}"/>
              </a:ext>
            </a:extLst>
          </p:cNvPr>
          <p:cNvSpPr>
            <a:spLocks noGrp="1"/>
          </p:cNvSpPr>
          <p:nvPr>
            <p:ph type="subTitle" idx="1"/>
          </p:nvPr>
        </p:nvSpPr>
        <p:spPr>
          <a:xfrm flipH="1">
            <a:off x="1033549" y="5225240"/>
            <a:ext cx="10058400" cy="1143000"/>
          </a:xfrm>
        </p:spPr>
        <p:txBody>
          <a:bodyPr rtlCol="1">
            <a:normAutofit/>
          </a:bodyPr>
          <a:lstStyle/>
          <a:p>
            <a:pPr algn="l" rtl="0"/>
            <a:r>
              <a:rPr lang="en-US" dirty="0">
                <a:solidFill>
                  <a:schemeClr val="bg1"/>
                </a:solidFill>
                <a:latin typeface="Tahoma" panose="020B0604030504040204" pitchFamily="34" charset="0"/>
              </a:rPr>
              <a:t>Preliminary Model Summary</a:t>
            </a:r>
            <a:br>
              <a:rPr lang="en-US" dirty="0">
                <a:solidFill>
                  <a:schemeClr val="bg1"/>
                </a:solidFill>
                <a:latin typeface="Tahoma" panose="020B0604030504040204" pitchFamily="34" charset="0"/>
              </a:rPr>
            </a:br>
            <a:endParaRPr lang="he" dirty="0">
              <a:solidFill>
                <a:schemeClr val="bg1"/>
              </a:solidFill>
              <a:latin typeface="Tahoma" panose="020B0604030504040204" pitchFamily="34" charset="0"/>
            </a:endParaRPr>
          </a:p>
        </p:txBody>
      </p:sp>
    </p:spTree>
    <p:extLst>
      <p:ext uri="{BB962C8B-B14F-4D97-AF65-F5344CB8AC3E}">
        <p14:creationId xmlns:p14="http://schemas.microsoft.com/office/powerpoint/2010/main" val="3748287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3D5D9C-A3E8-3C1D-AFF3-A53CB3800F4B}"/>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CA2BD68D-3838-1C4E-4A01-53A881605BFC}"/>
              </a:ext>
            </a:extLst>
          </p:cNvPr>
          <p:cNvSpPr>
            <a:spLocks noGrp="1" noChangeArrowheads="1"/>
          </p:cNvSpPr>
          <p:nvPr>
            <p:ph type="ctrTitle"/>
          </p:nvPr>
        </p:nvSpPr>
        <p:spPr bwMode="auto">
          <a:xfrm>
            <a:off x="2802312" y="2228671"/>
            <a:ext cx="652087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sz="4000" b="1" dirty="0"/>
              <a:t>Results and Graphs of the Final Model</a:t>
            </a:r>
          </a:p>
        </p:txBody>
      </p:sp>
      <p:sp>
        <p:nvSpPr>
          <p:cNvPr id="3" name="כותרת משנה 2">
            <a:extLst>
              <a:ext uri="{FF2B5EF4-FFF2-40B4-BE49-F238E27FC236}">
                <a16:creationId xmlns:a16="http://schemas.microsoft.com/office/drawing/2014/main" id="{528EB04D-08D9-2175-C5B3-4311BB146D06}"/>
              </a:ext>
            </a:extLst>
          </p:cNvPr>
          <p:cNvSpPr>
            <a:spLocks noGrp="1"/>
          </p:cNvSpPr>
          <p:nvPr>
            <p:ph type="subTitle" idx="1"/>
          </p:nvPr>
        </p:nvSpPr>
        <p:spPr>
          <a:xfrm flipH="1">
            <a:off x="1033549" y="5225240"/>
            <a:ext cx="10058400" cy="1143000"/>
          </a:xfrm>
        </p:spPr>
        <p:txBody>
          <a:bodyPr rtlCol="1">
            <a:normAutofit/>
          </a:bodyPr>
          <a:lstStyle/>
          <a:p>
            <a:pPr algn="l" rtl="0"/>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RSULTS &amp; GRAP</a:t>
            </a:r>
            <a:r>
              <a:rPr lang="en-US" dirty="0">
                <a:solidFill>
                  <a:schemeClr val="bg1"/>
                </a:solidFill>
                <a:latin typeface="Tahoma" panose="020B0604030504040204" pitchFamily="34" charset="0"/>
              </a:rPr>
              <a:t>HS </a:t>
            </a:r>
            <a:endParaRPr lang="he"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542024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AD50F8-F35B-7560-1DD4-3980E6D480DB}"/>
              </a:ext>
            </a:extLst>
          </p:cNvPr>
          <p:cNvSpPr>
            <a:spLocks noGrp="1"/>
          </p:cNvSpPr>
          <p:nvPr>
            <p:ph type="dt" sz="half" idx="10"/>
          </p:nvPr>
        </p:nvSpPr>
        <p:spPr/>
        <p:txBody>
          <a:bodyPr/>
          <a:lstStyle/>
          <a:p>
            <a:pPr rtl="1"/>
            <a:fld id="{75FA6EE9-C983-4E79-A3A9-F3233CDF6463}" type="datetime1">
              <a:rPr lang="he-IL" smtClean="0"/>
              <a:t>כ"ב/טבת/תשפ"ו</a:t>
            </a:fld>
            <a:endParaRPr lang="en-US" dirty="0"/>
          </a:p>
        </p:txBody>
      </p:sp>
      <p:pic>
        <p:nvPicPr>
          <p:cNvPr id="4" name="Picture 3" descr="A graph showing the difference between two steps and a blue line&#10;&#10;AI-generated content may be incorrect.">
            <a:extLst>
              <a:ext uri="{FF2B5EF4-FFF2-40B4-BE49-F238E27FC236}">
                <a16:creationId xmlns:a16="http://schemas.microsoft.com/office/drawing/2014/main" id="{63D93EB5-754F-49A9-AF55-13154792EB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6843" y="-27127"/>
            <a:ext cx="7375157" cy="6473965"/>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2C11B741-EB75-F8D6-0069-DCB2A27446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25" y="0"/>
            <a:ext cx="4774618" cy="6446838"/>
          </a:xfrm>
          <a:prstGeom prst="rect">
            <a:avLst/>
          </a:prstGeom>
        </p:spPr>
      </p:pic>
    </p:spTree>
    <p:extLst>
      <p:ext uri="{BB962C8B-B14F-4D97-AF65-F5344CB8AC3E}">
        <p14:creationId xmlns:p14="http://schemas.microsoft.com/office/powerpoint/2010/main" val="1235168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57FA4C-AB2F-4453-C3E1-C06F34327F48}"/>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324914A5-1D48-8BFB-18F1-4C1447126804}"/>
              </a:ext>
            </a:extLst>
          </p:cNvPr>
          <p:cNvSpPr>
            <a:spLocks noGrp="1" noChangeArrowheads="1"/>
          </p:cNvSpPr>
          <p:nvPr>
            <p:ph type="ctrTitle"/>
          </p:nvPr>
        </p:nvSpPr>
        <p:spPr bwMode="auto">
          <a:xfrm>
            <a:off x="1033549" y="685241"/>
            <a:ext cx="9374909" cy="3582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rtl="0"/>
            <a:r>
              <a:rPr lang="en-US" sz="2800" dirty="0"/>
              <a:t>- Larger, richer dataset improves learning.</a:t>
            </a:r>
            <a:br>
              <a:rPr lang="en-US" sz="2800" dirty="0"/>
            </a:br>
            <a:br>
              <a:rPr lang="en-US" sz="2800" dirty="0"/>
            </a:br>
            <a:r>
              <a:rPr lang="en-US" sz="2800" dirty="0"/>
              <a:t>- Long sentences provide deeper context.</a:t>
            </a:r>
            <a:br>
              <a:rPr lang="en-US" sz="2800" dirty="0"/>
            </a:br>
            <a:br>
              <a:rPr lang="en-US" sz="2800" dirty="0"/>
            </a:br>
            <a:r>
              <a:rPr lang="en-US" sz="2800" dirty="0"/>
              <a:t>- Higher steps allow more learning iterations.</a:t>
            </a:r>
            <a:br>
              <a:rPr lang="en-US" sz="2800" dirty="0"/>
            </a:br>
            <a:br>
              <a:rPr lang="en-US" sz="2800" dirty="0"/>
            </a:br>
            <a:r>
              <a:rPr lang="en-US" sz="2800" dirty="0"/>
              <a:t>- Loss consistently decreases and stabilizes.</a:t>
            </a:r>
            <a:br>
              <a:rPr lang="en-US" sz="2800" dirty="0"/>
            </a:br>
            <a:br>
              <a:rPr lang="en-US" sz="2800" dirty="0"/>
            </a:br>
            <a:r>
              <a:rPr lang="en-US" sz="2800" dirty="0"/>
              <a:t>- Better model generalization expected.</a:t>
            </a:r>
          </a:p>
        </p:txBody>
      </p:sp>
      <p:sp>
        <p:nvSpPr>
          <p:cNvPr id="3" name="כותרת משנה 2">
            <a:extLst>
              <a:ext uri="{FF2B5EF4-FFF2-40B4-BE49-F238E27FC236}">
                <a16:creationId xmlns:a16="http://schemas.microsoft.com/office/drawing/2014/main" id="{1605B89E-43DD-FCA6-1F00-2716DDB74322}"/>
              </a:ext>
            </a:extLst>
          </p:cNvPr>
          <p:cNvSpPr>
            <a:spLocks noGrp="1"/>
          </p:cNvSpPr>
          <p:nvPr>
            <p:ph type="subTitle" idx="1"/>
          </p:nvPr>
        </p:nvSpPr>
        <p:spPr>
          <a:xfrm flipH="1">
            <a:off x="1033549" y="5225240"/>
            <a:ext cx="10058400" cy="1143000"/>
          </a:xfrm>
        </p:spPr>
        <p:txBody>
          <a:bodyPr rtlCol="1">
            <a:normAutofit/>
          </a:bodyPr>
          <a:lstStyle/>
          <a:p>
            <a:pPr algn="l" rtl="0"/>
            <a:r>
              <a:rPr lang="en-US" b="1" dirty="0">
                <a:solidFill>
                  <a:schemeClr val="bg1"/>
                </a:solidFill>
              </a:rPr>
              <a:t>Final Model Summary</a:t>
            </a:r>
            <a:endParaRPr lang="en-US" dirty="0">
              <a:solidFill>
                <a:schemeClr val="bg1"/>
              </a:solidFill>
            </a:endParaRPr>
          </a:p>
        </p:txBody>
      </p:sp>
    </p:spTree>
    <p:extLst>
      <p:ext uri="{BB962C8B-B14F-4D97-AF65-F5344CB8AC3E}">
        <p14:creationId xmlns:p14="http://schemas.microsoft.com/office/powerpoint/2010/main" val="4255198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898F2A-2942-DE08-566B-036CC5096719}"/>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C213ED08-E6BF-DC8B-656E-09BF8B2549A5}"/>
              </a:ext>
            </a:extLst>
          </p:cNvPr>
          <p:cNvSpPr>
            <a:spLocks noGrp="1" noChangeArrowheads="1"/>
          </p:cNvSpPr>
          <p:nvPr>
            <p:ph type="ctrTitle"/>
          </p:nvPr>
        </p:nvSpPr>
        <p:spPr bwMode="auto">
          <a:xfrm>
            <a:off x="419878" y="371841"/>
            <a:ext cx="9869335"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rtl="0" eaLnBrk="0" fontAlgn="base" hangingPunct="0">
              <a:lnSpc>
                <a:spcPct val="100000"/>
              </a:lnSpc>
              <a:spcAft>
                <a:spcPct val="0"/>
              </a:spcAft>
            </a:pPr>
            <a:r>
              <a:rPr lang="en-US" altLang="he-IL" sz="2000" dirty="0">
                <a:solidFill>
                  <a:schemeClr val="tx1"/>
                </a:solidFill>
                <a:latin typeface="Arial" panose="020B0604020202020204" pitchFamily="34" charset="0"/>
              </a:rPr>
              <a:t>Every training setting was chosen based on experimentation.</a:t>
            </a:r>
            <a:br>
              <a:rPr lang="en-US" altLang="he-IL" sz="2000" dirty="0">
                <a:solidFill>
                  <a:schemeClr val="tx1"/>
                </a:solidFill>
                <a:latin typeface="Arial" panose="020B0604020202020204" pitchFamily="34" charset="0"/>
              </a:rPr>
            </a:br>
            <a:r>
              <a:rPr lang="en-US" altLang="he-IL" sz="2000" dirty="0">
                <a:solidFill>
                  <a:schemeClr val="tx1"/>
                </a:solidFill>
                <a:latin typeface="Arial" panose="020B0604020202020204" pitchFamily="34" charset="0"/>
              </a:rPr>
              <a:t>•We used a very small batch size (2) with gradient accumulation (8), not just because of limited memory, but because this lets us simulate a relatively large batch size (16), which helps stabilize the loss and improve results without hitting Google </a:t>
            </a:r>
            <a:r>
              <a:rPr lang="en-US" altLang="he-IL" sz="2000" dirty="0" err="1">
                <a:solidFill>
                  <a:schemeClr val="tx1"/>
                </a:solidFill>
                <a:latin typeface="Arial" panose="020B0604020202020204" pitchFamily="34" charset="0"/>
              </a:rPr>
              <a:t>Colab</a:t>
            </a:r>
            <a:r>
              <a:rPr lang="en-US" altLang="he-IL" sz="2000" dirty="0">
                <a:solidFill>
                  <a:schemeClr val="tx1"/>
                </a:solidFill>
                <a:latin typeface="Arial" panose="020B0604020202020204" pitchFamily="34" charset="0"/>
              </a:rPr>
              <a:t> limits or OOM errors.	</a:t>
            </a:r>
            <a:br>
              <a:rPr lang="en-US" altLang="he-IL" sz="2000" dirty="0">
                <a:solidFill>
                  <a:schemeClr val="tx1"/>
                </a:solidFill>
                <a:latin typeface="Arial" panose="020B0604020202020204" pitchFamily="34" charset="0"/>
              </a:rPr>
            </a:br>
            <a:r>
              <a:rPr lang="en-US" altLang="he-IL" sz="2000" dirty="0">
                <a:solidFill>
                  <a:schemeClr val="tx1"/>
                </a:solidFill>
                <a:latin typeface="Arial" panose="020B0604020202020204" pitchFamily="34" charset="0"/>
              </a:rPr>
              <a:t>•Our </a:t>
            </a:r>
            <a:r>
              <a:rPr lang="en-US" altLang="he-IL" sz="2000" b="1" dirty="0">
                <a:solidFill>
                  <a:schemeClr val="tx1"/>
                </a:solidFill>
                <a:latin typeface="Arial" panose="020B0604020202020204" pitchFamily="34" charset="0"/>
              </a:rPr>
              <a:t>learning rate (1e-4)</a:t>
            </a:r>
            <a:r>
              <a:rPr lang="en-US" altLang="he-IL" sz="2000" dirty="0">
                <a:solidFill>
                  <a:schemeClr val="tx1"/>
                </a:solidFill>
                <a:latin typeface="Arial" panose="020B0604020202020204" pitchFamily="34" charset="0"/>
              </a:rPr>
              <a:t> wasn’t random — we found that higher rates speed up training but made validation loss jump suddenly, while lower rates made training impractically slow. This value was the “golden point” for our model and data after several short training cycles.</a:t>
            </a:r>
            <a:br>
              <a:rPr lang="en-US" altLang="he-IL" sz="2000" dirty="0">
                <a:solidFill>
                  <a:schemeClr val="tx1"/>
                </a:solidFill>
                <a:latin typeface="Arial" panose="020B0604020202020204" pitchFamily="34" charset="0"/>
              </a:rPr>
            </a:br>
            <a:r>
              <a:rPr lang="en-US" altLang="he-IL" sz="2000" dirty="0">
                <a:solidFill>
                  <a:schemeClr val="tx1"/>
                </a:solidFill>
                <a:latin typeface="Arial" panose="020B0604020202020204" pitchFamily="34" charset="0"/>
              </a:rPr>
              <a:t>•We chose </a:t>
            </a:r>
            <a:r>
              <a:rPr lang="en-US" altLang="he-IL" sz="2000" b="1" dirty="0">
                <a:solidFill>
                  <a:schemeClr val="tx1"/>
                </a:solidFill>
                <a:latin typeface="Arial" panose="020B0604020202020204" pitchFamily="34" charset="0"/>
              </a:rPr>
              <a:t>700 </a:t>
            </a:r>
            <a:r>
              <a:rPr lang="en-US" altLang="he-IL" sz="2000" b="1" dirty="0" err="1">
                <a:solidFill>
                  <a:schemeClr val="tx1"/>
                </a:solidFill>
                <a:latin typeface="Arial" panose="020B0604020202020204" pitchFamily="34" charset="0"/>
              </a:rPr>
              <a:t>max_steps</a:t>
            </a:r>
            <a:r>
              <a:rPr lang="en-US" altLang="he-IL" sz="2000" b="1" dirty="0">
                <a:solidFill>
                  <a:schemeClr val="tx1"/>
                </a:solidFill>
                <a:latin typeface="Arial" panose="020B0604020202020204" pitchFamily="34" charset="0"/>
              </a:rPr>
              <a:t> </a:t>
            </a:r>
            <a:r>
              <a:rPr lang="en-US" altLang="he-IL" sz="2000" dirty="0">
                <a:solidFill>
                  <a:schemeClr val="tx1"/>
                </a:solidFill>
                <a:latin typeface="Arial" panose="020B0604020202020204" pitchFamily="34" charset="0"/>
              </a:rPr>
              <a:t>after watching the learning curve: increasing steps further gave diminishing returns and increased overfitting risk or wasted time/resources. Noticing this, we exploited the fact that further training yielded less benefit.</a:t>
            </a:r>
            <a:br>
              <a:rPr lang="en-US" altLang="he-IL" sz="2000" dirty="0">
                <a:solidFill>
                  <a:schemeClr val="tx1"/>
                </a:solidFill>
                <a:latin typeface="Arial" panose="020B0604020202020204" pitchFamily="34" charset="0"/>
              </a:rPr>
            </a:br>
            <a:r>
              <a:rPr lang="en-US" altLang="he-IL" sz="2000" dirty="0">
                <a:solidFill>
                  <a:schemeClr val="tx1"/>
                </a:solidFill>
                <a:latin typeface="Arial" panose="020B0604020202020204" pitchFamily="34" charset="0"/>
              </a:rPr>
              <a:t>•We picked Cosine Scheduler because it proved effective at making the model learn rapidly at first, then slow down and stabilize at the end — resulting in the best validation accuracy.</a:t>
            </a:r>
            <a:endParaRPr kumimoji="0" lang="he-IL" altLang="he-IL" sz="2000" i="0" u="none" strike="noStrike" cap="none" normalizeH="0" baseline="0" dirty="0">
              <a:ln>
                <a:noFill/>
              </a:ln>
              <a:solidFill>
                <a:schemeClr val="tx1"/>
              </a:solidFill>
              <a:effectLst/>
              <a:latin typeface="Arial" panose="020B0604020202020204" pitchFamily="34" charset="0"/>
            </a:endParaRPr>
          </a:p>
        </p:txBody>
      </p:sp>
      <p:sp>
        <p:nvSpPr>
          <p:cNvPr id="3" name="כותרת משנה 2">
            <a:extLst>
              <a:ext uri="{FF2B5EF4-FFF2-40B4-BE49-F238E27FC236}">
                <a16:creationId xmlns:a16="http://schemas.microsoft.com/office/drawing/2014/main" id="{E7DD58D5-5706-CABD-E6B7-CD1E39C135AF}"/>
              </a:ext>
            </a:extLst>
          </p:cNvPr>
          <p:cNvSpPr>
            <a:spLocks noGrp="1"/>
          </p:cNvSpPr>
          <p:nvPr>
            <p:ph type="subTitle" idx="1"/>
          </p:nvPr>
        </p:nvSpPr>
        <p:spPr>
          <a:xfrm flipH="1">
            <a:off x="1033549" y="5225240"/>
            <a:ext cx="10058400" cy="1143000"/>
          </a:xfrm>
        </p:spPr>
        <p:txBody>
          <a:bodyPr rtlCol="1">
            <a:normAutofit/>
          </a:bodyPr>
          <a:lstStyle/>
          <a:p>
            <a:pPr algn="l" rtl="0"/>
            <a:r>
              <a:rPr lang="en-US" dirty="0">
                <a:solidFill>
                  <a:schemeClr val="bg1"/>
                </a:solidFill>
              </a:rPr>
              <a:t>Training Configuration - Parameter</a:t>
            </a:r>
            <a:endParaRPr lang="he"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035964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2E0302-61EA-8FF6-820D-24BA1958D0A9}"/>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960BCAC0-9B22-1769-5333-11EBA7C70FC8}"/>
              </a:ext>
            </a:extLst>
          </p:cNvPr>
          <p:cNvSpPr>
            <a:spLocks noGrp="1" noChangeArrowheads="1"/>
          </p:cNvSpPr>
          <p:nvPr>
            <p:ph type="ctrTitle"/>
          </p:nvPr>
        </p:nvSpPr>
        <p:spPr bwMode="auto">
          <a:xfrm>
            <a:off x="1033549" y="214344"/>
            <a:ext cx="986933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rtl="0" eaLnBrk="0" fontAlgn="base" hangingPunct="0">
              <a:lnSpc>
                <a:spcPct val="100000"/>
              </a:lnSpc>
              <a:spcAft>
                <a:spcPct val="0"/>
              </a:spcAft>
            </a:pPr>
            <a:r>
              <a:rPr lang="en-US" sz="2600" dirty="0"/>
              <a:t>After reviewing NVIDIA’s official documentation and Ampere architecture whitepaper, we compared fp16, fp32, and bf16 for our AI model training. We found that bf16, as recommended for the A100 GPU, combines the high speed of fp16 with the numerical safety of fp32, making it the most efficient and reliable choice for large-scale deep learning.</a:t>
            </a:r>
            <a:br>
              <a:rPr lang="ar-SA" sz="2600" dirty="0"/>
            </a:br>
            <a:br>
              <a:rPr lang="ar-SA" sz="2600" dirty="0"/>
            </a:br>
            <a:br>
              <a:rPr lang="ar-SA" sz="2600" dirty="0"/>
            </a:br>
            <a:r>
              <a:rPr lang="en-US" sz="2000" dirty="0">
                <a:solidFill>
                  <a:srgbClr val="92D050"/>
                </a:solidFill>
              </a:rPr>
              <a:t>NVIDIA Corporation. "NVIDIA A100 Tensor Core GPU Architecture.</a:t>
            </a:r>
            <a:r>
              <a:rPr lang="ar-SA" sz="2000" dirty="0">
                <a:solidFill>
                  <a:srgbClr val="92D050"/>
                </a:solidFill>
              </a:rPr>
              <a:t> </a:t>
            </a:r>
            <a:r>
              <a:rPr lang="en-US" sz="2000" dirty="0">
                <a:solidFill>
                  <a:srgbClr val="92D050"/>
                </a:solidFill>
              </a:rPr>
              <a:t>“PAGE</a:t>
            </a:r>
            <a:r>
              <a:rPr lang="ar-SA" sz="2000" dirty="0">
                <a:solidFill>
                  <a:srgbClr val="92D050"/>
                </a:solidFill>
              </a:rPr>
              <a:t> </a:t>
            </a:r>
            <a:r>
              <a:rPr lang="en-US" sz="2000" dirty="0">
                <a:solidFill>
                  <a:srgbClr val="92D050"/>
                </a:solidFill>
              </a:rPr>
              <a:t>(9)</a:t>
            </a:r>
            <a:r>
              <a:rPr lang="ar-SA" sz="2000" dirty="0">
                <a:solidFill>
                  <a:srgbClr val="92D050"/>
                </a:solidFill>
              </a:rPr>
              <a:t>"</a:t>
            </a:r>
            <a:br>
              <a:rPr lang="ar-SA" sz="2600" dirty="0"/>
            </a:br>
            <a:r>
              <a:rPr lang="en-US" sz="2000" dirty="0">
                <a:hlinkClick r:id="rId2"/>
              </a:rPr>
              <a:t>https://images.nvidia.com/aem-dam/en-zz/Solutions/data-center/nvidia-ampere-architecture-whitepaper.pdf</a:t>
            </a:r>
            <a:br>
              <a:rPr lang="en-US" sz="2000" dirty="0"/>
            </a:br>
            <a:endParaRPr kumimoji="0" lang="he-IL" altLang="he-IL" sz="2000" i="0" u="none" strike="noStrike" cap="none" normalizeH="0" baseline="0" dirty="0">
              <a:ln>
                <a:noFill/>
              </a:ln>
              <a:solidFill>
                <a:schemeClr val="tx1"/>
              </a:solidFill>
              <a:effectLst/>
              <a:latin typeface="Arial" panose="020B0604020202020204" pitchFamily="34" charset="0"/>
            </a:endParaRPr>
          </a:p>
        </p:txBody>
      </p:sp>
      <p:sp>
        <p:nvSpPr>
          <p:cNvPr id="3" name="כותרת משנה 2">
            <a:extLst>
              <a:ext uri="{FF2B5EF4-FFF2-40B4-BE49-F238E27FC236}">
                <a16:creationId xmlns:a16="http://schemas.microsoft.com/office/drawing/2014/main" id="{74C3C3E8-519D-543E-1C54-3B46F950C412}"/>
              </a:ext>
            </a:extLst>
          </p:cNvPr>
          <p:cNvSpPr>
            <a:spLocks noGrp="1"/>
          </p:cNvSpPr>
          <p:nvPr>
            <p:ph type="subTitle" idx="1"/>
          </p:nvPr>
        </p:nvSpPr>
        <p:spPr>
          <a:xfrm flipH="1">
            <a:off x="1033549" y="5225240"/>
            <a:ext cx="10058400" cy="1143000"/>
          </a:xfrm>
        </p:spPr>
        <p:txBody>
          <a:bodyPr rtlCol="1">
            <a:normAutofit/>
          </a:bodyPr>
          <a:lstStyle/>
          <a:p>
            <a:pPr algn="l" rtl="0"/>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Picking </a:t>
            </a:r>
            <a:r>
              <a:rPr lang="en-US" dirty="0" err="1">
                <a:solidFill>
                  <a:schemeClr val="bg1"/>
                </a:solidFill>
                <a:latin typeface="Tahoma" panose="020B0604030504040204" pitchFamily="34" charset="0"/>
                <a:ea typeface="Tahoma" panose="020B0604030504040204" pitchFamily="34" charset="0"/>
                <a:cs typeface="Tahoma" panose="020B0604030504040204" pitchFamily="34" charset="0"/>
              </a:rPr>
              <a:t>gpu</a:t>
            </a: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 </a:t>
            </a:r>
            <a:endParaRPr lang="he"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8998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4BC09E-CD86-265F-CB99-5D17C5285540}"/>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7CAFAFF2-587F-E676-FD2E-1C6FC6EF0302}"/>
              </a:ext>
            </a:extLst>
          </p:cNvPr>
          <p:cNvSpPr>
            <a:spLocks noGrp="1" noChangeArrowheads="1"/>
          </p:cNvSpPr>
          <p:nvPr>
            <p:ph type="ctrTitle"/>
          </p:nvPr>
        </p:nvSpPr>
        <p:spPr bwMode="auto">
          <a:xfrm>
            <a:off x="391886" y="1393075"/>
            <a:ext cx="986933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rtl="0" eaLnBrk="0" fontAlgn="base" hangingPunct="0">
              <a:lnSpc>
                <a:spcPct val="100000"/>
              </a:lnSpc>
              <a:spcAft>
                <a:spcPct val="0"/>
              </a:spcAft>
            </a:pPr>
            <a:r>
              <a:rPr lang="en-US" altLang="he-IL" sz="2000" dirty="0">
                <a:solidFill>
                  <a:schemeClr val="tx1"/>
                </a:solidFill>
                <a:latin typeface="Arial" panose="020B0604020202020204" pitchFamily="34" charset="0"/>
              </a:rPr>
              <a:t>Given the limited session time and the risk of losing files from /content/ in </a:t>
            </a:r>
            <a:r>
              <a:rPr lang="en-US" altLang="he-IL" sz="2000" dirty="0" err="1">
                <a:solidFill>
                  <a:schemeClr val="tx1"/>
                </a:solidFill>
                <a:latin typeface="Arial" panose="020B0604020202020204" pitchFamily="34" charset="0"/>
              </a:rPr>
              <a:t>Colab</a:t>
            </a:r>
            <a:r>
              <a:rPr lang="en-US" altLang="he-IL" sz="2000" dirty="0">
                <a:solidFill>
                  <a:schemeClr val="tx1"/>
                </a:solidFill>
                <a:latin typeface="Arial" panose="020B0604020202020204" pitchFamily="34" charset="0"/>
              </a:rPr>
              <a:t>, regular checkpointing (every 200 steps) and downloading the best model at the end became essential. </a:t>
            </a:r>
            <a:br>
              <a:rPr lang="en-US" altLang="he-IL" sz="2000" dirty="0">
                <a:solidFill>
                  <a:schemeClr val="tx1"/>
                </a:solidFill>
                <a:latin typeface="Arial" panose="020B0604020202020204" pitchFamily="34" charset="0"/>
              </a:rPr>
            </a:br>
            <a:r>
              <a:rPr lang="en-US" altLang="he-IL" sz="2000" dirty="0">
                <a:solidFill>
                  <a:schemeClr val="tx1"/>
                </a:solidFill>
                <a:latin typeface="Arial" panose="020B0604020202020204" pitchFamily="34" charset="0"/>
              </a:rPr>
              <a:t>We also made sure to move final models/files to Google Drive immediately after training, to avoid losing hours of work due to a simple error or session timeout — which happened to us many times before.</a:t>
            </a:r>
            <a:endParaRPr kumimoji="0" lang="he-IL" altLang="he-IL" sz="2000" i="0" u="none" strike="noStrike" cap="none" normalizeH="0" baseline="0" dirty="0">
              <a:ln>
                <a:noFill/>
              </a:ln>
              <a:solidFill>
                <a:schemeClr val="tx1"/>
              </a:solidFill>
              <a:effectLst/>
              <a:latin typeface="Arial" panose="020B0604020202020204" pitchFamily="34" charset="0"/>
            </a:endParaRPr>
          </a:p>
        </p:txBody>
      </p:sp>
      <p:sp>
        <p:nvSpPr>
          <p:cNvPr id="3" name="כותרת משנה 2">
            <a:extLst>
              <a:ext uri="{FF2B5EF4-FFF2-40B4-BE49-F238E27FC236}">
                <a16:creationId xmlns:a16="http://schemas.microsoft.com/office/drawing/2014/main" id="{77FB13C3-1352-1883-051A-7D18551B3C3E}"/>
              </a:ext>
            </a:extLst>
          </p:cNvPr>
          <p:cNvSpPr>
            <a:spLocks noGrp="1"/>
          </p:cNvSpPr>
          <p:nvPr>
            <p:ph type="subTitle" idx="1"/>
          </p:nvPr>
        </p:nvSpPr>
        <p:spPr>
          <a:xfrm flipH="1">
            <a:off x="1033549" y="5225240"/>
            <a:ext cx="10058400" cy="1143000"/>
          </a:xfrm>
        </p:spPr>
        <p:txBody>
          <a:bodyPr rtlCol="1">
            <a:normAutofit/>
          </a:bodyPr>
          <a:lstStyle/>
          <a:p>
            <a:pPr algn="l" rtl="0"/>
            <a:r>
              <a:rPr lang="en-US" dirty="0">
                <a:solidFill>
                  <a:schemeClr val="bg1"/>
                </a:solidFill>
                <a:latin typeface="Tahoma" panose="020B0604030504040204" pitchFamily="34" charset="0"/>
              </a:rPr>
              <a:t>Saving &amp; Checkpointing</a:t>
            </a:r>
            <a:endParaRPr lang="he"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848921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344751-6A6A-2667-4078-C0E497E9989C}"/>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3A7DE7C9-30E3-5966-F27F-8ABDC5B1A803}"/>
              </a:ext>
            </a:extLst>
          </p:cNvPr>
          <p:cNvSpPr>
            <a:spLocks noGrp="1" noChangeArrowheads="1"/>
          </p:cNvSpPr>
          <p:nvPr>
            <p:ph type="ctrTitle"/>
          </p:nvPr>
        </p:nvSpPr>
        <p:spPr bwMode="auto">
          <a:xfrm>
            <a:off x="391886" y="1393075"/>
            <a:ext cx="986933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rtl="0" eaLnBrk="0" fontAlgn="base" hangingPunct="0">
              <a:lnSpc>
                <a:spcPct val="100000"/>
              </a:lnSpc>
              <a:spcAft>
                <a:spcPct val="0"/>
              </a:spcAft>
            </a:pPr>
            <a:r>
              <a:rPr lang="en-US" altLang="he-IL" sz="2000" dirty="0">
                <a:solidFill>
                  <a:schemeClr val="tx1"/>
                </a:solidFill>
                <a:latin typeface="Arial" panose="020B0604020202020204" pitchFamily="34" charset="0"/>
              </a:rPr>
              <a:t>Our project isn’t just about applying modern techniques; it’s an example of smart decision engineering:	</a:t>
            </a:r>
            <a:br>
              <a:rPr lang="en-US" altLang="he-IL" sz="2000" dirty="0">
                <a:solidFill>
                  <a:schemeClr val="tx1"/>
                </a:solidFill>
                <a:latin typeface="Arial" panose="020B0604020202020204" pitchFamily="34" charset="0"/>
              </a:rPr>
            </a:br>
            <a:r>
              <a:rPr lang="en-US" altLang="he-IL" sz="2000" dirty="0">
                <a:solidFill>
                  <a:schemeClr val="tx1"/>
                </a:solidFill>
                <a:latin typeface="Arial" panose="020B0604020202020204" pitchFamily="34" charset="0"/>
              </a:rPr>
              <a:t>•We balanced scientific ambition with technical reality.</a:t>
            </a:r>
            <a:br>
              <a:rPr lang="en-US" altLang="he-IL" sz="2000" dirty="0">
                <a:solidFill>
                  <a:schemeClr val="tx1"/>
                </a:solidFill>
                <a:latin typeface="Arial" panose="020B0604020202020204" pitchFamily="34" charset="0"/>
              </a:rPr>
            </a:br>
            <a:r>
              <a:rPr lang="en-US" altLang="he-IL" sz="2000" dirty="0">
                <a:solidFill>
                  <a:schemeClr val="tx1"/>
                </a:solidFill>
                <a:latin typeface="Arial" panose="020B0604020202020204" pitchFamily="34" charset="0"/>
              </a:rPr>
              <a:t>•We tested and tried every option based on evidence, not just theory.	</a:t>
            </a:r>
            <a:br>
              <a:rPr lang="en-US" altLang="he-IL" sz="2000" dirty="0">
                <a:solidFill>
                  <a:schemeClr val="tx1"/>
                </a:solidFill>
                <a:latin typeface="Arial" panose="020B0604020202020204" pitchFamily="34" charset="0"/>
              </a:rPr>
            </a:br>
            <a:r>
              <a:rPr lang="en-US" altLang="he-IL" sz="2000" dirty="0">
                <a:solidFill>
                  <a:schemeClr val="tx1"/>
                </a:solidFill>
                <a:latin typeface="Arial" panose="020B0604020202020204" pitchFamily="34" charset="0"/>
              </a:rPr>
              <a:t>•Every setting here is a practical lesson in turning obstacles into opportunities, and finding a middle ground that achieves the best results at the lowest cost.</a:t>
            </a:r>
            <a:endParaRPr kumimoji="0" lang="he-IL" altLang="he-IL" sz="2000" i="0" u="none" strike="noStrike" cap="none" normalizeH="0" baseline="0" dirty="0">
              <a:ln>
                <a:noFill/>
              </a:ln>
              <a:solidFill>
                <a:schemeClr val="tx1"/>
              </a:solidFill>
              <a:effectLst/>
              <a:latin typeface="Arial" panose="020B0604020202020204" pitchFamily="34" charset="0"/>
            </a:endParaRPr>
          </a:p>
        </p:txBody>
      </p:sp>
      <p:sp>
        <p:nvSpPr>
          <p:cNvPr id="3" name="כותרת משנה 2">
            <a:extLst>
              <a:ext uri="{FF2B5EF4-FFF2-40B4-BE49-F238E27FC236}">
                <a16:creationId xmlns:a16="http://schemas.microsoft.com/office/drawing/2014/main" id="{562FCBB5-FE2A-DE8C-3F5E-AFAB9C344858}"/>
              </a:ext>
            </a:extLst>
          </p:cNvPr>
          <p:cNvSpPr>
            <a:spLocks noGrp="1"/>
          </p:cNvSpPr>
          <p:nvPr>
            <p:ph type="subTitle" idx="1"/>
          </p:nvPr>
        </p:nvSpPr>
        <p:spPr>
          <a:xfrm flipH="1">
            <a:off x="1033549" y="5225240"/>
            <a:ext cx="10058400" cy="1143000"/>
          </a:xfrm>
        </p:spPr>
        <p:txBody>
          <a:bodyPr rtlCol="1">
            <a:normAutofit/>
          </a:bodyPr>
          <a:lstStyle/>
          <a:p>
            <a:pPr algn="l" rtl="0"/>
            <a:r>
              <a:rPr lang="en-US" altLang="he-IL" dirty="0">
                <a:solidFill>
                  <a:schemeClr val="bg1"/>
                </a:solidFill>
                <a:latin typeface="Arial" panose="020B0604020202020204" pitchFamily="34" charset="0"/>
              </a:rPr>
              <a:t>Methodology Recap</a:t>
            </a:r>
            <a:endParaRPr lang="he"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505754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descr="A white screen with text&#10;&#10;AI-generated content may be incorrect.">
            <a:extLst>
              <a:ext uri="{FF2B5EF4-FFF2-40B4-BE49-F238E27FC236}">
                <a16:creationId xmlns:a16="http://schemas.microsoft.com/office/drawing/2014/main" id="{A3F03DC0-6532-9BE5-67ED-67258853EF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7007" y="286603"/>
            <a:ext cx="9897661" cy="5582385"/>
          </a:xfrm>
        </p:spPr>
      </p:pic>
      <p:sp>
        <p:nvSpPr>
          <p:cNvPr id="4" name="Date Placeholder 3">
            <a:extLst>
              <a:ext uri="{FF2B5EF4-FFF2-40B4-BE49-F238E27FC236}">
                <a16:creationId xmlns:a16="http://schemas.microsoft.com/office/drawing/2014/main" id="{A769F518-8A90-7760-53AE-55A2497663F1}"/>
              </a:ext>
            </a:extLst>
          </p:cNvPr>
          <p:cNvSpPr>
            <a:spLocks noGrp="1"/>
          </p:cNvSpPr>
          <p:nvPr>
            <p:ph type="dt" sz="half" idx="10"/>
          </p:nvPr>
        </p:nvSpPr>
        <p:spPr/>
        <p:txBody>
          <a:bodyPr/>
          <a:lstStyle/>
          <a:p>
            <a:pPr rtl="1"/>
            <a:fld id="{9485C861-67B5-4004-B8E7-860D0705DFD9}" type="datetime1">
              <a:rPr lang="he-IL" smtClean="0"/>
              <a:t>כ"ב/טבת/תשפ"ו</a:t>
            </a:fld>
            <a:endParaRPr lang="en-US" dirty="0"/>
          </a:p>
        </p:txBody>
      </p:sp>
    </p:spTree>
    <p:extLst>
      <p:ext uri="{BB962C8B-B14F-4D97-AF65-F5344CB8AC3E}">
        <p14:creationId xmlns:p14="http://schemas.microsoft.com/office/powerpoint/2010/main" val="1241657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close-up of a document&#10;&#10;AI-generated content may be incorrect.">
            <a:extLst>
              <a:ext uri="{FF2B5EF4-FFF2-40B4-BE49-F238E27FC236}">
                <a16:creationId xmlns:a16="http://schemas.microsoft.com/office/drawing/2014/main" id="{C2E5BEC6-881C-E448-6D48-1C0241FD9B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9321" y="122549"/>
            <a:ext cx="9832398" cy="5746544"/>
          </a:xfrm>
          <a:noFill/>
        </p:spPr>
      </p:pic>
      <p:sp>
        <p:nvSpPr>
          <p:cNvPr id="4" name="Date Placeholder 3">
            <a:extLst>
              <a:ext uri="{FF2B5EF4-FFF2-40B4-BE49-F238E27FC236}">
                <a16:creationId xmlns:a16="http://schemas.microsoft.com/office/drawing/2014/main" id="{F96095FA-0171-2A36-D23E-FC87B6634087}"/>
              </a:ext>
            </a:extLst>
          </p:cNvPr>
          <p:cNvSpPr>
            <a:spLocks noGrp="1"/>
          </p:cNvSpPr>
          <p:nvPr>
            <p:ph type="dt" sz="half" idx="10"/>
          </p:nvPr>
        </p:nvSpPr>
        <p:spPr/>
        <p:txBody>
          <a:bodyPr anchor="ctr">
            <a:normAutofit/>
          </a:bodyPr>
          <a:lstStyle/>
          <a:p>
            <a:pPr rtl="1">
              <a:spcAft>
                <a:spcPts val="600"/>
              </a:spcAft>
            </a:pPr>
            <a:fld id="{9485C861-67B5-4004-B8E7-860D0705DFD9}" type="datetime1">
              <a:rPr lang="he-IL" smtClean="0"/>
              <a:pPr rtl="1">
                <a:spcAft>
                  <a:spcPts val="600"/>
                </a:spcAft>
              </a:pPr>
              <a:t>כ"ב/טבת/תשפ"ו</a:t>
            </a:fld>
            <a:endParaRPr lang="en-US"/>
          </a:p>
        </p:txBody>
      </p:sp>
    </p:spTree>
    <p:extLst>
      <p:ext uri="{BB962C8B-B14F-4D97-AF65-F5344CB8AC3E}">
        <p14:creationId xmlns:p14="http://schemas.microsoft.com/office/powerpoint/2010/main" val="2060357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9EDE4-6B84-282E-12B3-924A97FD8D70}"/>
              </a:ext>
            </a:extLst>
          </p:cNvPr>
          <p:cNvSpPr>
            <a:spLocks noGrp="1"/>
          </p:cNvSpPr>
          <p:nvPr>
            <p:ph type="title"/>
          </p:nvPr>
        </p:nvSpPr>
        <p:spPr/>
        <p:txBody>
          <a:bodyPr/>
          <a:lstStyle/>
          <a:p>
            <a:endParaRPr lang="he-IL"/>
          </a:p>
        </p:txBody>
      </p:sp>
      <p:pic>
        <p:nvPicPr>
          <p:cNvPr id="8" name="Content Placeholder 7" descr="A close-up of a document&#10;&#10;AI-generated content may be incorrect.">
            <a:extLst>
              <a:ext uri="{FF2B5EF4-FFF2-40B4-BE49-F238E27FC236}">
                <a16:creationId xmlns:a16="http://schemas.microsoft.com/office/drawing/2014/main" id="{523A28E3-8860-90E7-3FE4-01F59B9F12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6638" y="286603"/>
            <a:ext cx="10058400" cy="5162081"/>
          </a:xfrm>
        </p:spPr>
      </p:pic>
      <p:sp>
        <p:nvSpPr>
          <p:cNvPr id="4" name="Date Placeholder 3">
            <a:extLst>
              <a:ext uri="{FF2B5EF4-FFF2-40B4-BE49-F238E27FC236}">
                <a16:creationId xmlns:a16="http://schemas.microsoft.com/office/drawing/2014/main" id="{D7FA0F1F-7D64-973D-DA42-E3EE92256D11}"/>
              </a:ext>
            </a:extLst>
          </p:cNvPr>
          <p:cNvSpPr>
            <a:spLocks noGrp="1"/>
          </p:cNvSpPr>
          <p:nvPr>
            <p:ph type="dt" sz="half" idx="10"/>
          </p:nvPr>
        </p:nvSpPr>
        <p:spPr/>
        <p:txBody>
          <a:bodyPr/>
          <a:lstStyle/>
          <a:p>
            <a:pPr rtl="1"/>
            <a:fld id="{9485C861-67B5-4004-B8E7-860D0705DFD9}" type="datetime1">
              <a:rPr lang="he-IL" smtClean="0"/>
              <a:t>כ"ב/טבת/תשפ"ו</a:t>
            </a:fld>
            <a:endParaRPr lang="en-US" dirty="0"/>
          </a:p>
        </p:txBody>
      </p:sp>
    </p:spTree>
    <p:extLst>
      <p:ext uri="{BB962C8B-B14F-4D97-AF65-F5344CB8AC3E}">
        <p14:creationId xmlns:p14="http://schemas.microsoft.com/office/powerpoint/2010/main" val="357781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4E279-A8EE-DB0F-9178-580AECDC87CC}"/>
              </a:ext>
            </a:extLst>
          </p:cNvPr>
          <p:cNvSpPr>
            <a:spLocks noGrp="1"/>
          </p:cNvSpPr>
          <p:nvPr>
            <p:ph type="title"/>
          </p:nvPr>
        </p:nvSpPr>
        <p:spPr>
          <a:xfrm flipH="1">
            <a:off x="1500909" y="2244713"/>
            <a:ext cx="10058400" cy="1450757"/>
          </a:xfrm>
        </p:spPr>
        <p:txBody>
          <a:bodyPr>
            <a:normAutofit fontScale="90000"/>
          </a:bodyPr>
          <a:lstStyle/>
          <a:p>
            <a:r>
              <a:rPr lang="en-US" altLang="en-US" sz="4800" b="1" dirty="0">
                <a:solidFill>
                  <a:schemeClr val="accent4">
                    <a:lumMod val="75000"/>
                  </a:schemeClr>
                </a:solidFill>
                <a:latin typeface="Arial" panose="020B0604020202020204" pitchFamily="34" charset="0"/>
              </a:rPr>
              <a:t>Let's</a:t>
            </a:r>
            <a:r>
              <a:rPr lang="en-US" dirty="0">
                <a:solidFill>
                  <a:schemeClr val="accent4">
                    <a:lumMod val="75000"/>
                  </a:schemeClr>
                </a:solidFill>
              </a:rPr>
              <a:t> </a:t>
            </a:r>
            <a:r>
              <a:rPr lang="en-US" altLang="en-US" sz="4800" b="1" dirty="0">
                <a:solidFill>
                  <a:schemeClr val="accent4">
                    <a:lumMod val="75000"/>
                  </a:schemeClr>
                </a:solidFill>
                <a:latin typeface="Arial" panose="020B0604020202020204" pitchFamily="34" charset="0"/>
              </a:rPr>
              <a:t>Try a Live Experiment</a:t>
            </a:r>
            <a:r>
              <a:rPr lang="ar-SA" altLang="en-US" sz="4800" b="1" dirty="0">
                <a:solidFill>
                  <a:schemeClr val="accent4">
                    <a:lumMod val="75000"/>
                  </a:schemeClr>
                </a:solidFill>
                <a:latin typeface="Arial" panose="020B0604020202020204" pitchFamily="34" charset="0"/>
              </a:rPr>
              <a:t> </a:t>
            </a:r>
            <a:r>
              <a:rPr lang="en-US" altLang="en-US" sz="4800" b="1" dirty="0">
                <a:solidFill>
                  <a:schemeClr val="accent4">
                    <a:lumMod val="75000"/>
                  </a:schemeClr>
                </a:solidFill>
                <a:latin typeface="Arial" panose="020B0604020202020204" pitchFamily="34" charset="0"/>
              </a:rPr>
              <a:t>...</a:t>
            </a:r>
            <a:endParaRPr lang="en-US" dirty="0">
              <a:solidFill>
                <a:schemeClr val="accent4">
                  <a:lumMod val="75000"/>
                </a:schemeClr>
              </a:solidFill>
            </a:endParaRPr>
          </a:p>
        </p:txBody>
      </p:sp>
      <p:sp>
        <p:nvSpPr>
          <p:cNvPr id="3" name="Date Placeholder 2">
            <a:extLst>
              <a:ext uri="{FF2B5EF4-FFF2-40B4-BE49-F238E27FC236}">
                <a16:creationId xmlns:a16="http://schemas.microsoft.com/office/drawing/2014/main" id="{013ECA7C-2AE9-7760-101A-9077DD196E67}"/>
              </a:ext>
            </a:extLst>
          </p:cNvPr>
          <p:cNvSpPr>
            <a:spLocks noGrp="1"/>
          </p:cNvSpPr>
          <p:nvPr>
            <p:ph type="dt" sz="half" idx="10"/>
          </p:nvPr>
        </p:nvSpPr>
        <p:spPr/>
        <p:txBody>
          <a:bodyPr/>
          <a:lstStyle/>
          <a:p>
            <a:pPr rtl="1"/>
            <a:fld id="{25FDD4EA-431A-4956-84A7-9DE9D45B98C7}" type="datetime1">
              <a:rPr lang="he-IL" smtClean="0"/>
              <a:t>כ"ב/טבת/תשפ"ו</a:t>
            </a:fld>
            <a:endParaRPr lang="en-US" dirty="0"/>
          </a:p>
        </p:txBody>
      </p:sp>
    </p:spTree>
    <p:extLst>
      <p:ext uri="{BB962C8B-B14F-4D97-AF65-F5344CB8AC3E}">
        <p14:creationId xmlns:p14="http://schemas.microsoft.com/office/powerpoint/2010/main" val="6154110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ערכת נושא של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ערכת נושא של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TM03457485[[fn=Mesh]]</Template>
  <TotalTime>223</TotalTime>
  <Words>1124</Words>
  <Application>Microsoft Office PowerPoint</Application>
  <PresentationFormat>Widescreen</PresentationFormat>
  <Paragraphs>33</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Century Gothic</vt:lpstr>
      <vt:lpstr>Tahoma</vt:lpstr>
      <vt:lpstr>Mesh</vt:lpstr>
      <vt:lpstr>Fine-Tuning LLAMA3 Language Model</vt:lpstr>
      <vt:lpstr>This project provides practical hands-on experience in fine-tuning Meta's LLAMA3 large language model on local and cloud-based environments. The objective is to equip students with skills in NLP, deep learning, model customization, and deployment for real-world tasks, with a special focus on healthcare applications. </vt:lpstr>
      <vt:lpstr>With the growing significance of LLMs in areas such as chat applications and medical diagnostics, this project introduces students to: Customizing LLMs for domain-specific use-cases Evaluating model performance effectively Using state-of-the-art tools for local and cloud-based deployment</vt:lpstr>
      <vt:lpstr>In our project, we are not starting from scratch to build a language model. Instead, we begin with one of today’s best open-source LLMs. After much thought, we choose: Llama 3-8B-Instruct-bnb-4bit. A large AI model contains millions of digital “strings”. However, it needs careful tuning and customization to achieve its best performance for a specific task. This is where fine-tuning comes in: It’s like retuning a wonderful instrument. The base model has huge potential, but unless its abilities are directed and finely adjusted for your domain or data, its performance will remain general and suboptimal. With fine-tuning, we “turn the knobs” of the model and refine its inner details until we reach the high-quality performance for the type of dialogue or field we’re targeting. That’s why we didn’t choose a giant model that would exhaust our resources, nor a tiny model that lacks creativity. Instead, we found the smart balance in Llama-3-8B (bnb-4bit), leveraging the best fast and efficient training techniques (LoRA and Unsloth), to get the best mix for limited time and compute.</vt:lpstr>
      <vt:lpstr>We were faced with an infinite amount of data. But after filtering and focusing on quality, we decided the best option was to use FineTome-100k. Still, we had two choices: either use the full 100,000-sample dataset, or just a subset. At first, using all the data, the more data, the more chances for the model to learn. But in reality, running on Google Colab (even with an A100 GPU), loading all the data at once made training noticeably slower, and could even destabilize the session. We tried reducing the size to 20,000 examples; training was much faster and results were fairly satisfying (we reached a 0.79 training loss and 0.84 validation loss). Still, we noticed a tendency toward overfitting. So, after several trials, we found that selecting 50,000 well-chosen samples (specifically, after filtering out very short dialogues) gave the best balance between data diversity, training speed, and not exceeding Colab’s memory limits. Filtering out dialogues shorter than 100 tokens wasn’t random — it was based on observation and research into expert advice online. Longer dialogues generally provide deeper context for the model and reduce the risk of “rote memorization” or learning from shallow examples.</vt:lpstr>
      <vt:lpstr>Results and Graphs of the Preliminary Model </vt:lpstr>
      <vt:lpstr>PowerPoint Presentation</vt:lpstr>
      <vt:lpstr>- Small dataset size → Limited generalizat  - Short sentences may not capture  complexity.  - Lower step count may limit learning.  - Fluctuations in loss.  </vt:lpstr>
      <vt:lpstr>Results and Graphs of the Final Model</vt:lpstr>
      <vt:lpstr>PowerPoint Presentation</vt:lpstr>
      <vt:lpstr>- Larger, richer dataset improves learning.  - Long sentences provide deeper context.  - Higher steps allow more learning iterations.  - Loss consistently decreases and stabilizes.  - Better model generalization expected.</vt:lpstr>
      <vt:lpstr>Every training setting was chosen based on experimentation. •We used a very small batch size (2) with gradient accumulation (8), not just because of limited memory, but because this lets us simulate a relatively large batch size (16), which helps stabilize the loss and improve results without hitting Google Colab limits or OOM errors.  •Our learning rate (1e-4) wasn’t random — we found that higher rates speed up training but made validation loss jump suddenly, while lower rates made training impractically slow. This value was the “golden point” for our model and data after several short training cycles. •We chose 700 max_steps after watching the learning curve: increasing steps further gave diminishing returns and increased overfitting risk or wasted time/resources. Noticing this, we exploited the fact that further training yielded less benefit. •We picked Cosine Scheduler because it proved effective at making the model learn rapidly at first, then slow down and stabilize at the end — resulting in the best validation accuracy.</vt:lpstr>
      <vt:lpstr>After reviewing NVIDIA’s official documentation and Ampere architecture whitepaper, we compared fp16, fp32, and bf16 for our AI model training. We found that bf16, as recommended for the A100 GPU, combines the high speed of fp16 with the numerical safety of fp32, making it the most efficient and reliable choice for large-scale deep learning.   NVIDIA Corporation. "NVIDIA A100 Tensor Core GPU Architecture. “PAGE (9)" https://images.nvidia.com/aem-dam/en-zz/Solutions/data-center/nvidia-ampere-architecture-whitepaper.pdf </vt:lpstr>
      <vt:lpstr>Given the limited session time and the risk of losing files from /content/ in Colab, regular checkpointing (every 200 steps) and downloading the best model at the end became essential.  We also made sure to move final models/files to Google Drive immediately after training, to avoid losing hours of work due to a simple error or session timeout — which happened to us many times before.</vt:lpstr>
      <vt:lpstr>Our project isn’t just about applying modern techniques; it’s an example of smart decision engineering:  •We balanced scientific ambition with technical reality. •We tested and tried every option based on evidence, not just theory.  •Every setting here is a practical lesson in turning obstacles into opportunities, and finding a middle ground that achieves the best results at the lowest cost.</vt:lpstr>
      <vt:lpstr>PowerPoint Presentation</vt:lpstr>
      <vt:lpstr>PowerPoint Presentation</vt:lpstr>
      <vt:lpstr>PowerPoint Presentation</vt:lpstr>
      <vt:lpstr>Let's Try a Live Experiment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wesam shjrawi</dc:creator>
  <cp:lastModifiedBy>Ali Besher</cp:lastModifiedBy>
  <cp:revision>4</cp:revision>
  <dcterms:created xsi:type="dcterms:W3CDTF">2025-07-10T17:02:05Z</dcterms:created>
  <dcterms:modified xsi:type="dcterms:W3CDTF">2026-01-11T20:46:10Z</dcterms:modified>
</cp:coreProperties>
</file>